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3"/>
  </p:notesMasterIdLst>
  <p:sldIdLst>
    <p:sldId id="299" r:id="rId2"/>
    <p:sldId id="259" r:id="rId3"/>
    <p:sldId id="258" r:id="rId4"/>
    <p:sldId id="262" r:id="rId5"/>
    <p:sldId id="264" r:id="rId6"/>
    <p:sldId id="297" r:id="rId7"/>
    <p:sldId id="261" r:id="rId8"/>
    <p:sldId id="277" r:id="rId9"/>
    <p:sldId id="298" r:id="rId10"/>
    <p:sldId id="300" r:id="rId11"/>
    <p:sldId id="301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Nunito Light" panose="020F0502020204030204" pitchFamily="2" charset="0"/>
      <p:regular r:id="rId16"/>
      <p:italic r:id="rId17"/>
    </p:embeddedFont>
    <p:embeddedFont>
      <p:font typeface="Raleway" panose="020F0502020204030204" pitchFamily="2" charset="0"/>
      <p:regular r:id="rId18"/>
      <p:bold r:id="rId19"/>
      <p:italic r:id="rId20"/>
      <p:boldItalic r:id="rId21"/>
    </p:embeddedFont>
    <p:embeddedFont>
      <p:font typeface="Roboto" panose="020F0502020204030204" pitchFamily="2" charset="0"/>
      <p:regular r:id="rId22"/>
      <p:bold r:id="rId23"/>
      <p:italic r:id="rId24"/>
      <p:boldItalic r:id="rId25"/>
    </p:embeddedFont>
    <p:embeddedFont>
      <p:font typeface="Roboto Light" panose="020F0502020204030204" pitchFamily="2" charset="0"/>
      <p:regular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8DB912-D6FF-4BA9-8C6A-011195812070}">
  <a:tblStyle styleId="{818DB912-D6FF-4BA9-8C6A-0111958120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6FEDE81-25B7-428B-B45C-86BBD3DB861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05" autoAdjust="0"/>
    <p:restoredTop sz="94660"/>
  </p:normalViewPr>
  <p:slideViewPr>
    <p:cSldViewPr snapToGrid="0">
      <p:cViewPr>
        <p:scale>
          <a:sx n="100" d="100"/>
          <a:sy n="100" d="100"/>
        </p:scale>
        <p:origin x="342" y="3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E9EE0ADA-6624-EF4D-2193-9A3472C64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84d99d1a72_0_15:notes">
            <a:extLst>
              <a:ext uri="{FF2B5EF4-FFF2-40B4-BE49-F238E27FC236}">
                <a16:creationId xmlns:a16="http://schemas.microsoft.com/office/drawing/2014/main" id="{4C6138E3-D6DC-A49E-054F-160EE42088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84d99d1a72_0_15:notes">
            <a:extLst>
              <a:ext uri="{FF2B5EF4-FFF2-40B4-BE49-F238E27FC236}">
                <a16:creationId xmlns:a16="http://schemas.microsoft.com/office/drawing/2014/main" id="{2BA52303-3725-3E36-012B-4909FF5E80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8288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7AF97114-5BEA-ABC3-5028-42783550B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84d99d1a72_0_15:notes">
            <a:extLst>
              <a:ext uri="{FF2B5EF4-FFF2-40B4-BE49-F238E27FC236}">
                <a16:creationId xmlns:a16="http://schemas.microsoft.com/office/drawing/2014/main" id="{70B4E2C4-4AFF-C86E-5C78-60951D4759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84d99d1a72_0_15:notes">
            <a:extLst>
              <a:ext uri="{FF2B5EF4-FFF2-40B4-BE49-F238E27FC236}">
                <a16:creationId xmlns:a16="http://schemas.microsoft.com/office/drawing/2014/main" id="{1332D3BD-8B0E-55CD-7097-86271D6ADF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1837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1e96b905680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1e96b905680_0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>
          <a:extLst>
            <a:ext uri="{FF2B5EF4-FFF2-40B4-BE49-F238E27FC236}">
              <a16:creationId xmlns:a16="http://schemas.microsoft.com/office/drawing/2014/main" id="{7E79A13F-FCCA-46BF-89DF-1A55F9514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1e96b905680_0_540:notes">
            <a:extLst>
              <a:ext uri="{FF2B5EF4-FFF2-40B4-BE49-F238E27FC236}">
                <a16:creationId xmlns:a16="http://schemas.microsoft.com/office/drawing/2014/main" id="{4426B57C-4977-8523-9AF2-D0F171D667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1e96b905680_0_540:notes">
            <a:extLst>
              <a:ext uri="{FF2B5EF4-FFF2-40B4-BE49-F238E27FC236}">
                <a16:creationId xmlns:a16="http://schemas.microsoft.com/office/drawing/2014/main" id="{8C698305-447A-CA7B-9F40-75FDA96FCF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4118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1170425" y="1460700"/>
            <a:ext cx="35589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1170425" y="2539800"/>
            <a:ext cx="3558900" cy="11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cxnSp>
        <p:nvCxnSpPr>
          <p:cNvPr id="29" name="Google Shape;29;p4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1"/>
          </p:nvPr>
        </p:nvSpPr>
        <p:spPr>
          <a:xfrm>
            <a:off x="2190525" y="3358475"/>
            <a:ext cx="60813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2"/>
          </p:nvPr>
        </p:nvSpPr>
        <p:spPr>
          <a:xfrm>
            <a:off x="2190525" y="1881775"/>
            <a:ext cx="60813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3"/>
          </p:nvPr>
        </p:nvSpPr>
        <p:spPr>
          <a:xfrm>
            <a:off x="2190525" y="1506475"/>
            <a:ext cx="60813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4"/>
          </p:nvPr>
        </p:nvSpPr>
        <p:spPr>
          <a:xfrm>
            <a:off x="2190525" y="2983175"/>
            <a:ext cx="60813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cxnSp>
        <p:nvCxnSpPr>
          <p:cNvPr id="36" name="Google Shape;36;p5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l="79576" r="9658"/>
          <a:stretch/>
        </p:blipFill>
        <p:spPr>
          <a:xfrm>
            <a:off x="0" y="1506475"/>
            <a:ext cx="281551" cy="2615201"/>
          </a:xfrm>
          <a:prstGeom prst="rect">
            <a:avLst/>
          </a:prstGeom>
          <a:noFill/>
          <a:ln>
            <a:noFill/>
          </a:ln>
          <a:effectLst>
            <a:outerShdw blurRad="428625" dist="133350" dir="2460000" algn="bl" rotWithShape="0">
              <a:schemeClr val="accent3"/>
            </a:outerShdw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3225" y="1150775"/>
            <a:ext cx="414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ubTitle" idx="1"/>
          </p:nvPr>
        </p:nvSpPr>
        <p:spPr>
          <a:xfrm>
            <a:off x="713225" y="1866025"/>
            <a:ext cx="41457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>
            <a:spLocks noGrp="1"/>
          </p:cNvSpPr>
          <p:nvPr>
            <p:ph type="pic" idx="2"/>
          </p:nvPr>
        </p:nvSpPr>
        <p:spPr>
          <a:xfrm>
            <a:off x="5643775" y="724200"/>
            <a:ext cx="2787000" cy="36951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8" name="Google Shape;48;p7"/>
          <p:cNvGrpSpPr/>
          <p:nvPr/>
        </p:nvGrpSpPr>
        <p:grpSpPr>
          <a:xfrm>
            <a:off x="0" y="-4250"/>
            <a:ext cx="9144001" cy="5147738"/>
            <a:chOff x="0" y="-4250"/>
            <a:chExt cx="9144001" cy="5147738"/>
          </a:xfrm>
        </p:grpSpPr>
        <p:pic>
          <p:nvPicPr>
            <p:cNvPr id="49" name="Google Shape;49;p7"/>
            <p:cNvPicPr preferRelativeResize="0"/>
            <p:nvPr/>
          </p:nvPicPr>
          <p:blipFill rotWithShape="1">
            <a:blip r:embed="rId2">
              <a:alphaModFix/>
            </a:blip>
            <a:srcRect t="1777" b="81134"/>
            <a:stretch/>
          </p:blipFill>
          <p:spPr>
            <a:xfrm>
              <a:off x="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50" name="Google Shape;50;p7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8797650" y="3054460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cxnSp>
        <p:nvCxnSpPr>
          <p:cNvPr id="51" name="Google Shape;51;p7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54" name="Google Shape;54;p8"/>
          <p:cNvGrpSpPr/>
          <p:nvPr/>
        </p:nvGrpSpPr>
        <p:grpSpPr>
          <a:xfrm>
            <a:off x="0" y="-4250"/>
            <a:ext cx="9143999" cy="3696713"/>
            <a:chOff x="0" y="-4250"/>
            <a:chExt cx="9143999" cy="3696713"/>
          </a:xfrm>
        </p:grpSpPr>
        <p:pic>
          <p:nvPicPr>
            <p:cNvPr id="55" name="Google Shape;55;p8"/>
            <p:cNvPicPr preferRelativeResize="0"/>
            <p:nvPr/>
          </p:nvPicPr>
          <p:blipFill rotWithShape="1">
            <a:blip r:embed="rId2">
              <a:alphaModFix/>
            </a:blip>
            <a:srcRect t="67791" b="15120"/>
            <a:stretch/>
          </p:blipFill>
          <p:spPr>
            <a:xfrm>
              <a:off x="596210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56" name="Google Shape;56;p8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0" y="160343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grpSp>
        <p:nvGrpSpPr>
          <p:cNvPr id="57" name="Google Shape;57;p8"/>
          <p:cNvGrpSpPr/>
          <p:nvPr/>
        </p:nvGrpSpPr>
        <p:grpSpPr>
          <a:xfrm>
            <a:off x="713225" y="539500"/>
            <a:ext cx="7739700" cy="4235350"/>
            <a:chOff x="713225" y="539500"/>
            <a:chExt cx="7739700" cy="4235350"/>
          </a:xfrm>
        </p:grpSpPr>
        <p:cxnSp>
          <p:nvCxnSpPr>
            <p:cNvPr id="58" name="Google Shape;58;p8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>
              <a:off x="713225" y="539500"/>
              <a:ext cx="0" cy="577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63" name="Google Shape;63;p9"/>
          <p:cNvPicPr preferRelativeResize="0"/>
          <p:nvPr/>
        </p:nvPicPr>
        <p:blipFill rotWithShape="1">
          <a:blip r:embed="rId2">
            <a:alphaModFix/>
          </a:blip>
          <a:srcRect l="67244"/>
          <a:stretch/>
        </p:blipFill>
        <p:spPr>
          <a:xfrm>
            <a:off x="0" y="2136825"/>
            <a:ext cx="556251" cy="2089049"/>
          </a:xfrm>
          <a:prstGeom prst="rect">
            <a:avLst/>
          </a:prstGeom>
          <a:noFill/>
          <a:ln>
            <a:noFill/>
          </a:ln>
          <a:effectLst>
            <a:outerShdw blurRad="428625" dist="133350" dir="2460000" algn="bl" rotWithShape="0">
              <a:schemeClr val="accent3"/>
            </a:outerShdw>
          </a:effectLst>
        </p:spPr>
      </p:pic>
      <p:grpSp>
        <p:nvGrpSpPr>
          <p:cNvPr id="64" name="Google Shape;64;p9"/>
          <p:cNvGrpSpPr/>
          <p:nvPr/>
        </p:nvGrpSpPr>
        <p:grpSpPr>
          <a:xfrm>
            <a:off x="713225" y="539500"/>
            <a:ext cx="7739700" cy="4235350"/>
            <a:chOff x="713225" y="539500"/>
            <a:chExt cx="7739700" cy="4235350"/>
          </a:xfrm>
        </p:grpSpPr>
        <p:cxnSp>
          <p:nvCxnSpPr>
            <p:cNvPr id="65" name="Google Shape;65;p9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>
              <a:off x="713225" y="539500"/>
              <a:ext cx="0" cy="577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2" hasCustomPrompt="1"/>
          </p:nvPr>
        </p:nvSpPr>
        <p:spPr>
          <a:xfrm>
            <a:off x="796200" y="1584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3" hasCustomPrompt="1"/>
          </p:nvPr>
        </p:nvSpPr>
        <p:spPr>
          <a:xfrm>
            <a:off x="796200" y="309400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4" hasCustomPrompt="1"/>
          </p:nvPr>
        </p:nvSpPr>
        <p:spPr>
          <a:xfrm>
            <a:off x="3439738" y="1584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5" hasCustomPrompt="1"/>
          </p:nvPr>
        </p:nvSpPr>
        <p:spPr>
          <a:xfrm>
            <a:off x="3439738" y="309400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6" hasCustomPrompt="1"/>
          </p:nvPr>
        </p:nvSpPr>
        <p:spPr>
          <a:xfrm>
            <a:off x="6083275" y="1584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7" hasCustomPrompt="1"/>
          </p:nvPr>
        </p:nvSpPr>
        <p:spPr>
          <a:xfrm>
            <a:off x="6083275" y="309400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"/>
          </p:nvPr>
        </p:nvSpPr>
        <p:spPr>
          <a:xfrm>
            <a:off x="796200" y="2064875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8"/>
          </p:nvPr>
        </p:nvSpPr>
        <p:spPr>
          <a:xfrm>
            <a:off x="3439738" y="2064875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9"/>
          </p:nvPr>
        </p:nvSpPr>
        <p:spPr>
          <a:xfrm>
            <a:off x="6083275" y="2064875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3"/>
          </p:nvPr>
        </p:nvSpPr>
        <p:spPr>
          <a:xfrm>
            <a:off x="796200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4"/>
          </p:nvPr>
        </p:nvSpPr>
        <p:spPr>
          <a:xfrm>
            <a:off x="3439738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5"/>
          </p:nvPr>
        </p:nvSpPr>
        <p:spPr>
          <a:xfrm>
            <a:off x="6083275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0" y="0"/>
            <a:ext cx="9150050" cy="4122174"/>
            <a:chOff x="0" y="0"/>
            <a:chExt cx="9150050" cy="4122174"/>
          </a:xfrm>
        </p:grpSpPr>
        <p:pic>
          <p:nvPicPr>
            <p:cNvPr id="91" name="Google Shape;91;p13"/>
            <p:cNvPicPr preferRelativeResize="0"/>
            <p:nvPr/>
          </p:nvPicPr>
          <p:blipFill rotWithShape="1">
            <a:blip r:embed="rId2">
              <a:alphaModFix/>
            </a:blip>
            <a:srcRect l="62264" r="26819"/>
            <a:stretch/>
          </p:blipFill>
          <p:spPr>
            <a:xfrm flipH="1">
              <a:off x="0" y="1542875"/>
              <a:ext cx="281551" cy="2579299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2460000" algn="bl" rotWithShape="0">
                <a:schemeClr val="accent3"/>
              </a:outerShdw>
            </a:effectLst>
          </p:spPr>
        </p:pic>
        <p:pic>
          <p:nvPicPr>
            <p:cNvPr id="92" name="Google Shape;92;p13"/>
            <p:cNvPicPr preferRelativeResize="0"/>
            <p:nvPr/>
          </p:nvPicPr>
          <p:blipFill rotWithShape="1">
            <a:blip r:embed="rId2">
              <a:alphaModFix/>
            </a:blip>
            <a:srcRect t="15289" b="58439"/>
            <a:stretch/>
          </p:blipFill>
          <p:spPr>
            <a:xfrm flipH="1">
              <a:off x="7737475" y="0"/>
              <a:ext cx="1412575" cy="371099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</p:grpSp>
      <p:cxnSp>
        <p:nvCxnSpPr>
          <p:cNvPr id="93" name="Google Shape;93;p13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1"/>
          </p:nvPr>
        </p:nvSpPr>
        <p:spPr>
          <a:xfrm>
            <a:off x="3578700" y="156430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ubTitle" idx="2"/>
          </p:nvPr>
        </p:nvSpPr>
        <p:spPr>
          <a:xfrm>
            <a:off x="3578700" y="253535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3"/>
          </p:nvPr>
        </p:nvSpPr>
        <p:spPr>
          <a:xfrm>
            <a:off x="3578700" y="350640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4"/>
          </p:nvPr>
        </p:nvSpPr>
        <p:spPr>
          <a:xfrm>
            <a:off x="1846625" y="1564300"/>
            <a:ext cx="16671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5"/>
          </p:nvPr>
        </p:nvSpPr>
        <p:spPr>
          <a:xfrm>
            <a:off x="1846625" y="2535350"/>
            <a:ext cx="16671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6"/>
          </p:nvPr>
        </p:nvSpPr>
        <p:spPr>
          <a:xfrm>
            <a:off x="1846625" y="3506400"/>
            <a:ext cx="16671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02" name="Google Shape;102;p14"/>
          <p:cNvGrpSpPr/>
          <p:nvPr/>
        </p:nvGrpSpPr>
        <p:grpSpPr>
          <a:xfrm>
            <a:off x="0" y="-4250"/>
            <a:ext cx="9143999" cy="3696713"/>
            <a:chOff x="0" y="-4250"/>
            <a:chExt cx="9143999" cy="3696713"/>
          </a:xfrm>
        </p:grpSpPr>
        <p:pic>
          <p:nvPicPr>
            <p:cNvPr id="103" name="Google Shape;103;p14"/>
            <p:cNvPicPr preferRelativeResize="0"/>
            <p:nvPr/>
          </p:nvPicPr>
          <p:blipFill rotWithShape="1">
            <a:blip r:embed="rId2">
              <a:alphaModFix/>
            </a:blip>
            <a:srcRect t="67791" b="15120"/>
            <a:stretch/>
          </p:blipFill>
          <p:spPr>
            <a:xfrm>
              <a:off x="596210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104" name="Google Shape;104;p14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0" y="160343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cxnSp>
        <p:nvCxnSpPr>
          <p:cNvPr id="105" name="Google Shape;105;p14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ubTitle" idx="1"/>
          </p:nvPr>
        </p:nvSpPr>
        <p:spPr>
          <a:xfrm>
            <a:off x="1017326" y="1786350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subTitle" idx="2"/>
          </p:nvPr>
        </p:nvSpPr>
        <p:spPr>
          <a:xfrm>
            <a:off x="3709511" y="1786359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subTitle" idx="3"/>
          </p:nvPr>
        </p:nvSpPr>
        <p:spPr>
          <a:xfrm>
            <a:off x="1017326" y="3346400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subTitle" idx="4"/>
          </p:nvPr>
        </p:nvSpPr>
        <p:spPr>
          <a:xfrm>
            <a:off x="3709499" y="3346400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subTitle" idx="5"/>
          </p:nvPr>
        </p:nvSpPr>
        <p:spPr>
          <a:xfrm>
            <a:off x="6401672" y="1786359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subTitle" idx="6"/>
          </p:nvPr>
        </p:nvSpPr>
        <p:spPr>
          <a:xfrm>
            <a:off x="6401672" y="3346400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subTitle" idx="7"/>
          </p:nvPr>
        </p:nvSpPr>
        <p:spPr>
          <a:xfrm>
            <a:off x="1017326" y="1258579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subTitle" idx="8"/>
          </p:nvPr>
        </p:nvSpPr>
        <p:spPr>
          <a:xfrm>
            <a:off x="3709511" y="1258588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9"/>
          </p:nvPr>
        </p:nvSpPr>
        <p:spPr>
          <a:xfrm>
            <a:off x="6401672" y="1258588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1" name="Google Shape;131;p16"/>
          <p:cNvSpPr txBox="1">
            <a:spLocks noGrp="1"/>
          </p:cNvSpPr>
          <p:nvPr>
            <p:ph type="subTitle" idx="13"/>
          </p:nvPr>
        </p:nvSpPr>
        <p:spPr>
          <a:xfrm>
            <a:off x="1017326" y="2815504"/>
            <a:ext cx="1975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2" name="Google Shape;132;p16"/>
          <p:cNvSpPr txBox="1">
            <a:spLocks noGrp="1"/>
          </p:cNvSpPr>
          <p:nvPr>
            <p:ph type="subTitle" idx="14"/>
          </p:nvPr>
        </p:nvSpPr>
        <p:spPr>
          <a:xfrm>
            <a:off x="3709511" y="281550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3" name="Google Shape;133;p16"/>
          <p:cNvSpPr txBox="1">
            <a:spLocks noGrp="1"/>
          </p:cNvSpPr>
          <p:nvPr>
            <p:ph type="subTitle" idx="15"/>
          </p:nvPr>
        </p:nvSpPr>
        <p:spPr>
          <a:xfrm>
            <a:off x="6401672" y="281550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34" name="Google Shape;134;p16"/>
          <p:cNvGrpSpPr/>
          <p:nvPr/>
        </p:nvGrpSpPr>
        <p:grpSpPr>
          <a:xfrm>
            <a:off x="-12350" y="0"/>
            <a:ext cx="9176501" cy="3722113"/>
            <a:chOff x="-12350" y="0"/>
            <a:chExt cx="9176501" cy="3722113"/>
          </a:xfrm>
        </p:grpSpPr>
        <p:pic>
          <p:nvPicPr>
            <p:cNvPr id="135" name="Google Shape;135;p16"/>
            <p:cNvPicPr preferRelativeResize="0"/>
            <p:nvPr/>
          </p:nvPicPr>
          <p:blipFill rotWithShape="1">
            <a:blip r:embed="rId2">
              <a:alphaModFix/>
            </a:blip>
            <a:srcRect l="67243" r="16176"/>
            <a:stretch/>
          </p:blipFill>
          <p:spPr>
            <a:xfrm>
              <a:off x="-12350" y="163308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  <p:pic>
          <p:nvPicPr>
            <p:cNvPr id="136" name="Google Shape;136;p16"/>
            <p:cNvPicPr preferRelativeResize="0"/>
            <p:nvPr/>
          </p:nvPicPr>
          <p:blipFill rotWithShape="1">
            <a:blip r:embed="rId3">
              <a:alphaModFix/>
            </a:blip>
            <a:srcRect t="67791" b="15120"/>
            <a:stretch/>
          </p:blipFill>
          <p:spPr>
            <a:xfrm>
              <a:off x="8817800" y="0"/>
              <a:ext cx="346351" cy="125860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</p:grpSp>
      <p:cxnSp>
        <p:nvCxnSpPr>
          <p:cNvPr id="137" name="Google Shape;137;p16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8"/>
          <p:cNvGrpSpPr/>
          <p:nvPr/>
        </p:nvGrpSpPr>
        <p:grpSpPr>
          <a:xfrm>
            <a:off x="0" y="-4250"/>
            <a:ext cx="9143999" cy="3696713"/>
            <a:chOff x="0" y="-4250"/>
            <a:chExt cx="9143999" cy="3696713"/>
          </a:xfrm>
        </p:grpSpPr>
        <p:pic>
          <p:nvPicPr>
            <p:cNvPr id="203" name="Google Shape;203;p28"/>
            <p:cNvPicPr preferRelativeResize="0"/>
            <p:nvPr/>
          </p:nvPicPr>
          <p:blipFill rotWithShape="1">
            <a:blip r:embed="rId2">
              <a:alphaModFix/>
            </a:blip>
            <a:srcRect t="67791" b="15120"/>
            <a:stretch/>
          </p:blipFill>
          <p:spPr>
            <a:xfrm>
              <a:off x="596210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204" name="Google Shape;204;p28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0" y="160343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grpSp>
        <p:nvGrpSpPr>
          <p:cNvPr id="205" name="Google Shape;205;p28"/>
          <p:cNvGrpSpPr/>
          <p:nvPr/>
        </p:nvGrpSpPr>
        <p:grpSpPr>
          <a:xfrm>
            <a:off x="713225" y="539500"/>
            <a:ext cx="7739700" cy="4235350"/>
            <a:chOff x="713225" y="539500"/>
            <a:chExt cx="7739700" cy="4235350"/>
          </a:xfrm>
        </p:grpSpPr>
        <p:cxnSp>
          <p:nvCxnSpPr>
            <p:cNvPr id="206" name="Google Shape;206;p28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28"/>
            <p:cNvCxnSpPr/>
            <p:nvPr/>
          </p:nvCxnSpPr>
          <p:spPr>
            <a:xfrm rot="10800000">
              <a:off x="713225" y="539500"/>
              <a:ext cx="0" cy="577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29"/>
          <p:cNvGrpSpPr/>
          <p:nvPr/>
        </p:nvGrpSpPr>
        <p:grpSpPr>
          <a:xfrm>
            <a:off x="0" y="0"/>
            <a:ext cx="9172851" cy="4288087"/>
            <a:chOff x="0" y="0"/>
            <a:chExt cx="9172851" cy="4288087"/>
          </a:xfrm>
        </p:grpSpPr>
        <p:pic>
          <p:nvPicPr>
            <p:cNvPr id="210" name="Google Shape;210;p29"/>
            <p:cNvPicPr preferRelativeResize="0"/>
            <p:nvPr/>
          </p:nvPicPr>
          <p:blipFill rotWithShape="1">
            <a:blip r:embed="rId2">
              <a:alphaModFix/>
            </a:blip>
            <a:srcRect l="67243" r="16176"/>
            <a:stretch/>
          </p:blipFill>
          <p:spPr>
            <a:xfrm>
              <a:off x="0" y="1624113"/>
              <a:ext cx="281551" cy="2663974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  <p:pic>
          <p:nvPicPr>
            <p:cNvPr id="211" name="Google Shape;211;p29"/>
            <p:cNvPicPr preferRelativeResize="0"/>
            <p:nvPr/>
          </p:nvPicPr>
          <p:blipFill rotWithShape="1">
            <a:blip r:embed="rId3">
              <a:alphaModFix/>
            </a:blip>
            <a:srcRect t="67791" b="15120"/>
            <a:stretch/>
          </p:blipFill>
          <p:spPr>
            <a:xfrm>
              <a:off x="8826500" y="0"/>
              <a:ext cx="346351" cy="1096799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</p:grpSp>
      <p:cxnSp>
        <p:nvCxnSpPr>
          <p:cNvPr id="212" name="Google Shape;212;p29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2" r:id="rId10"/>
    <p:sldLayoutId id="2147483674" r:id="rId11"/>
    <p:sldLayoutId id="214748367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08F0BEB5-3D1D-171E-3A60-8A11863DB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C261EF5C-18BB-90E1-7832-F8E0411392E3}"/>
              </a:ext>
            </a:extLst>
          </p:cNvPr>
          <p:cNvSpPr txBox="1"/>
          <p:nvPr/>
        </p:nvSpPr>
        <p:spPr>
          <a:xfrm>
            <a:off x="805911" y="1143461"/>
            <a:ext cx="67340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4800" b="1" i="0" u="none" strike="noStrike" kern="0" cap="none" spc="0" normalizeH="0" baseline="0" noProof="0" dirty="0">
                <a:ln>
                  <a:noFill/>
                </a:ln>
                <a:solidFill>
                  <a:srgbClr val="424651"/>
                </a:solidFill>
                <a:effectLst/>
                <a:uLnTx/>
                <a:uFillTx/>
                <a:latin typeface="Manrope"/>
                <a:sym typeface="Manrope"/>
              </a:rPr>
              <a:t>AI-Driven Archaeological Site Mapping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009E90-8A39-6E69-4E3D-CE902131DC1F}"/>
              </a:ext>
            </a:extLst>
          </p:cNvPr>
          <p:cNvSpPr txBox="1"/>
          <p:nvPr/>
        </p:nvSpPr>
        <p:spPr>
          <a:xfrm>
            <a:off x="6509288" y="3445216"/>
            <a:ext cx="2882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Manrope" panose="020B0604020202020204" charset="0"/>
              </a:rPr>
              <a:t>By</a:t>
            </a:r>
          </a:p>
          <a:p>
            <a:endParaRPr lang="en-US" sz="1800" dirty="0">
              <a:latin typeface="Manrope" panose="020B0604020202020204" charset="0"/>
            </a:endParaRPr>
          </a:p>
          <a:p>
            <a:r>
              <a:rPr lang="en-US" sz="1800" dirty="0" err="1">
                <a:latin typeface="Manrope" panose="020B0604020202020204" charset="0"/>
              </a:rPr>
              <a:t>R.Rishika</a:t>
            </a:r>
            <a:endParaRPr lang="en-IN" sz="1800" dirty="0">
              <a:latin typeface="Manrop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486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>
            <a:spLocks noGrp="1"/>
          </p:cNvSpPr>
          <p:nvPr>
            <p:ph type="title"/>
          </p:nvPr>
        </p:nvSpPr>
        <p:spPr>
          <a:xfrm>
            <a:off x="596988" y="1383249"/>
            <a:ext cx="8089812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Introduction to AI-Driven Archaeological Site Mapping</a:t>
            </a:r>
          </a:p>
        </p:txBody>
      </p:sp>
      <p:sp>
        <p:nvSpPr>
          <p:cNvPr id="264" name="Google Shape;264;p36"/>
          <p:cNvSpPr txBox="1">
            <a:spLocks noGrp="1"/>
          </p:cNvSpPr>
          <p:nvPr>
            <p:ph type="subTitle" idx="1"/>
          </p:nvPr>
        </p:nvSpPr>
        <p:spPr>
          <a:xfrm>
            <a:off x="713225" y="2182992"/>
            <a:ext cx="7345894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>
                <a:latin typeface="Manrope" panose="020B0604020202020204" charset="0"/>
              </a:rPr>
              <a:t>This project presents an </a:t>
            </a:r>
            <a:r>
              <a:rPr lang="en-US" sz="1400" b="1" dirty="0">
                <a:latin typeface="Manrope" panose="020B0604020202020204" charset="0"/>
              </a:rPr>
              <a:t>AI-powered system</a:t>
            </a:r>
            <a:r>
              <a:rPr lang="en-US" sz="1400" dirty="0">
                <a:latin typeface="Manrope" panose="020B0604020202020204" charset="0"/>
              </a:rPr>
              <a:t> for archaeological site analysis using satellite and terrain data.</a:t>
            </a:r>
          </a:p>
          <a:p>
            <a:r>
              <a:rPr lang="en-US" sz="1400" dirty="0">
                <a:latin typeface="Manrope" panose="020B0604020202020204" charset="0"/>
              </a:rPr>
              <a:t>The platform integrates </a:t>
            </a:r>
            <a:r>
              <a:rPr lang="en-US" sz="1400" b="1" dirty="0">
                <a:latin typeface="Manrope" panose="020B0604020202020204" charset="0"/>
              </a:rPr>
              <a:t>deep learning models</a:t>
            </a:r>
            <a:r>
              <a:rPr lang="en-US" sz="1400" dirty="0">
                <a:latin typeface="Manrope" panose="020B0604020202020204" charset="0"/>
              </a:rPr>
              <a:t> to: Detect archaeological artifacts, Segment terrain features, Predict soil erosion risk</a:t>
            </a:r>
          </a:p>
          <a:p>
            <a:r>
              <a:rPr lang="en-US" sz="1400" dirty="0">
                <a:latin typeface="Manrope" panose="020B0604020202020204" charset="0"/>
              </a:rPr>
              <a:t>Designed to support </a:t>
            </a:r>
            <a:r>
              <a:rPr lang="en-US" sz="1400" b="1" dirty="0">
                <a:latin typeface="Manrope" panose="020B0604020202020204" charset="0"/>
              </a:rPr>
              <a:t>archaeologists, researchers, and planners</a:t>
            </a:r>
            <a:r>
              <a:rPr lang="en-US" sz="1400" dirty="0">
                <a:latin typeface="Manrope" panose="020B0604020202020204" charset="0"/>
              </a:rPr>
              <a:t> in early-stage site exploration.</a:t>
            </a:r>
          </a:p>
          <a:p>
            <a:r>
              <a:rPr lang="en-US" sz="1400" dirty="0">
                <a:latin typeface="Manrope" panose="020B0604020202020204" charset="0"/>
              </a:rPr>
              <a:t>Focuses on </a:t>
            </a:r>
            <a:r>
              <a:rPr lang="en-US" sz="1400" b="1" dirty="0">
                <a:latin typeface="Manrope" panose="020B0604020202020204" charset="0"/>
              </a:rPr>
              <a:t>automation, accuracy, and visual decision support</a:t>
            </a:r>
            <a:r>
              <a:rPr lang="en-US" sz="1400" dirty="0">
                <a:latin typeface="Manrope" panose="020B060402020202020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Technology Stack</a:t>
            </a:r>
            <a:endParaRPr dirty="0"/>
          </a:p>
        </p:txBody>
      </p:sp>
      <p:sp>
        <p:nvSpPr>
          <p:cNvPr id="241" name="Google Shape;241;p35"/>
          <p:cNvSpPr txBox="1">
            <a:spLocks noGrp="1"/>
          </p:cNvSpPr>
          <p:nvPr>
            <p:ph type="title" idx="2"/>
          </p:nvPr>
        </p:nvSpPr>
        <p:spPr>
          <a:xfrm>
            <a:off x="796199" y="1568950"/>
            <a:ext cx="2567335" cy="4805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2200" dirty="0"/>
              <a:t>Framework</a:t>
            </a:r>
            <a:endParaRPr sz="2200" dirty="0"/>
          </a:p>
        </p:txBody>
      </p:sp>
      <p:sp>
        <p:nvSpPr>
          <p:cNvPr id="242" name="Google Shape;242;p35"/>
          <p:cNvSpPr txBox="1">
            <a:spLocks noGrp="1"/>
          </p:cNvSpPr>
          <p:nvPr>
            <p:ph type="title" idx="3"/>
          </p:nvPr>
        </p:nvSpPr>
        <p:spPr>
          <a:xfrm>
            <a:off x="796199" y="3094002"/>
            <a:ext cx="2721916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200" dirty="0"/>
              <a:t>Machine Learning</a:t>
            </a:r>
            <a:endParaRPr sz="2200" dirty="0"/>
          </a:p>
        </p:txBody>
      </p:sp>
      <p:sp>
        <p:nvSpPr>
          <p:cNvPr id="243" name="Google Shape;243;p35"/>
          <p:cNvSpPr txBox="1">
            <a:spLocks noGrp="1"/>
          </p:cNvSpPr>
          <p:nvPr>
            <p:ph type="title" idx="4"/>
          </p:nvPr>
        </p:nvSpPr>
        <p:spPr>
          <a:xfrm>
            <a:off x="3518115" y="1534705"/>
            <a:ext cx="2798328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2200" dirty="0"/>
              <a:t>Deep Learning</a:t>
            </a:r>
            <a:endParaRPr sz="2200" dirty="0"/>
          </a:p>
        </p:txBody>
      </p:sp>
      <p:sp>
        <p:nvSpPr>
          <p:cNvPr id="244" name="Google Shape;244;p35"/>
          <p:cNvSpPr txBox="1">
            <a:spLocks noGrp="1"/>
          </p:cNvSpPr>
          <p:nvPr>
            <p:ph type="title" idx="5"/>
          </p:nvPr>
        </p:nvSpPr>
        <p:spPr>
          <a:xfrm>
            <a:off x="3439737" y="3094002"/>
            <a:ext cx="2488951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200" dirty="0"/>
              <a:t>Data Processing</a:t>
            </a:r>
            <a:endParaRPr sz="2200" dirty="0"/>
          </a:p>
        </p:txBody>
      </p:sp>
      <p:sp>
        <p:nvSpPr>
          <p:cNvPr id="245" name="Google Shape;245;p35"/>
          <p:cNvSpPr txBox="1">
            <a:spLocks noGrp="1"/>
          </p:cNvSpPr>
          <p:nvPr>
            <p:ph type="title" idx="6"/>
          </p:nvPr>
        </p:nvSpPr>
        <p:spPr>
          <a:xfrm>
            <a:off x="6102922" y="1513218"/>
            <a:ext cx="2761415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200" dirty="0"/>
              <a:t>Computer Vision</a:t>
            </a:r>
            <a:endParaRPr sz="2200" dirty="0"/>
          </a:p>
        </p:txBody>
      </p:sp>
      <p:sp>
        <p:nvSpPr>
          <p:cNvPr id="246" name="Google Shape;246;p35"/>
          <p:cNvSpPr txBox="1">
            <a:spLocks noGrp="1"/>
          </p:cNvSpPr>
          <p:nvPr>
            <p:ph type="title" idx="7"/>
          </p:nvPr>
        </p:nvSpPr>
        <p:spPr>
          <a:xfrm>
            <a:off x="6083274" y="3094002"/>
            <a:ext cx="248894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2200" dirty="0"/>
              <a:t>Visualization</a:t>
            </a:r>
            <a:endParaRPr sz="2200" dirty="0"/>
          </a:p>
        </p:txBody>
      </p:sp>
      <p:sp>
        <p:nvSpPr>
          <p:cNvPr id="248" name="Google Shape;248;p35"/>
          <p:cNvSpPr txBox="1">
            <a:spLocks noGrp="1"/>
          </p:cNvSpPr>
          <p:nvPr>
            <p:ph type="subTitle" idx="8"/>
          </p:nvPr>
        </p:nvSpPr>
        <p:spPr>
          <a:xfrm>
            <a:off x="3439737" y="2064875"/>
            <a:ext cx="2491125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dirty="0" err="1"/>
              <a:t>PyTorch</a:t>
            </a:r>
            <a:endParaRPr lang="en-IN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dirty="0"/>
              <a:t>Segmentation Models </a:t>
            </a:r>
            <a:r>
              <a:rPr lang="en-IN" sz="1400" dirty="0" err="1"/>
              <a:t>PyTorch</a:t>
            </a:r>
            <a:r>
              <a:rPr lang="en-IN" sz="1400" dirty="0"/>
              <a:t> (SMP)</a:t>
            </a:r>
          </a:p>
        </p:txBody>
      </p:sp>
      <p:sp>
        <p:nvSpPr>
          <p:cNvPr id="249" name="Google Shape;249;p35"/>
          <p:cNvSpPr txBox="1">
            <a:spLocks noGrp="1"/>
          </p:cNvSpPr>
          <p:nvPr>
            <p:ph type="subTitle" idx="9"/>
          </p:nvPr>
        </p:nvSpPr>
        <p:spPr>
          <a:xfrm>
            <a:off x="6122571" y="1963908"/>
            <a:ext cx="2722119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 OpenCV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YOLOv5</a:t>
            </a:r>
          </a:p>
        </p:txBody>
      </p:sp>
      <p:sp>
        <p:nvSpPr>
          <p:cNvPr id="250" name="Google Shape;250;p35"/>
          <p:cNvSpPr txBox="1">
            <a:spLocks noGrp="1"/>
          </p:cNvSpPr>
          <p:nvPr>
            <p:ph type="subTitle" idx="13"/>
          </p:nvPr>
        </p:nvSpPr>
        <p:spPr>
          <a:xfrm>
            <a:off x="796200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Scikit-Learn (Random Forest)</a:t>
            </a:r>
          </a:p>
        </p:txBody>
      </p:sp>
      <p:sp>
        <p:nvSpPr>
          <p:cNvPr id="251" name="Google Shape;251;p35"/>
          <p:cNvSpPr txBox="1">
            <a:spLocks noGrp="1"/>
          </p:cNvSpPr>
          <p:nvPr>
            <p:ph type="subTitle" idx="14"/>
          </p:nvPr>
        </p:nvSpPr>
        <p:spPr>
          <a:xfrm>
            <a:off x="3439738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 NumPy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 Pandas</a:t>
            </a:r>
          </a:p>
        </p:txBody>
      </p:sp>
      <p:sp>
        <p:nvSpPr>
          <p:cNvPr id="252" name="Google Shape;252;p35"/>
          <p:cNvSpPr txBox="1">
            <a:spLocks noGrp="1"/>
          </p:cNvSpPr>
          <p:nvPr>
            <p:ph type="subTitle" idx="15"/>
          </p:nvPr>
        </p:nvSpPr>
        <p:spPr>
          <a:xfrm>
            <a:off x="6083275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Matplotlib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 PIL</a:t>
            </a:r>
            <a:br>
              <a:rPr lang="en-IN" sz="1400" dirty="0"/>
            </a:br>
            <a:endParaRPr sz="1400" dirty="0"/>
          </a:p>
        </p:txBody>
      </p:sp>
      <p:cxnSp>
        <p:nvCxnSpPr>
          <p:cNvPr id="253" name="Google Shape;253;p35"/>
          <p:cNvCxnSpPr/>
          <p:nvPr/>
        </p:nvCxnSpPr>
        <p:spPr>
          <a:xfrm rot="10800000">
            <a:off x="720000" y="1542875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" name="Google Shape;254;p35"/>
          <p:cNvCxnSpPr/>
          <p:nvPr/>
        </p:nvCxnSpPr>
        <p:spPr>
          <a:xfrm rot="10800000">
            <a:off x="720000" y="3158863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5" name="Google Shape;255;p35"/>
          <p:cNvCxnSpPr/>
          <p:nvPr/>
        </p:nvCxnSpPr>
        <p:spPr>
          <a:xfrm rot="10800000">
            <a:off x="3363538" y="1542875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6" name="Google Shape;256;p35"/>
          <p:cNvCxnSpPr/>
          <p:nvPr/>
        </p:nvCxnSpPr>
        <p:spPr>
          <a:xfrm rot="10800000">
            <a:off x="3363538" y="3158863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" name="Google Shape;257;p35"/>
          <p:cNvCxnSpPr/>
          <p:nvPr/>
        </p:nvCxnSpPr>
        <p:spPr>
          <a:xfrm rot="10800000">
            <a:off x="6007075" y="1542875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" name="Google Shape;258;p35"/>
          <p:cNvCxnSpPr/>
          <p:nvPr/>
        </p:nvCxnSpPr>
        <p:spPr>
          <a:xfrm rot="10800000">
            <a:off x="6007075" y="3158875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3D842930-0070-B388-4F8E-E43A815D917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96199" y="2107405"/>
            <a:ext cx="115608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400" dirty="0" err="1"/>
              <a:t>Streamlit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Challenges</a:t>
            </a:r>
            <a:endParaRPr dirty="0"/>
          </a:p>
        </p:txBody>
      </p:sp>
      <p:sp>
        <p:nvSpPr>
          <p:cNvPr id="291" name="Google Shape;291;p39"/>
          <p:cNvSpPr txBox="1">
            <a:spLocks noGrp="1"/>
          </p:cNvSpPr>
          <p:nvPr>
            <p:ph type="subTitle" idx="4"/>
          </p:nvPr>
        </p:nvSpPr>
        <p:spPr>
          <a:xfrm>
            <a:off x="874472" y="1400670"/>
            <a:ext cx="2869754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1. Manual archaeological surveys</a:t>
            </a:r>
            <a:endParaRPr dirty="0"/>
          </a:p>
        </p:txBody>
      </p:sp>
      <p:sp>
        <p:nvSpPr>
          <p:cNvPr id="292" name="Google Shape;292;p39"/>
          <p:cNvSpPr txBox="1">
            <a:spLocks noGrp="1"/>
          </p:cNvSpPr>
          <p:nvPr>
            <p:ph type="subTitle" idx="5"/>
          </p:nvPr>
        </p:nvSpPr>
        <p:spPr>
          <a:xfrm>
            <a:off x="874472" y="2371720"/>
            <a:ext cx="2704223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2. Terrain degradation and erosion</a:t>
            </a:r>
            <a:endParaRPr dirty="0"/>
          </a:p>
        </p:txBody>
      </p:sp>
      <p:sp>
        <p:nvSpPr>
          <p:cNvPr id="293" name="Google Shape;293;p39"/>
          <p:cNvSpPr txBox="1">
            <a:spLocks noGrp="1"/>
          </p:cNvSpPr>
          <p:nvPr>
            <p:ph type="subTitle" idx="1"/>
          </p:nvPr>
        </p:nvSpPr>
        <p:spPr>
          <a:xfrm>
            <a:off x="3909757" y="148074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400" dirty="0"/>
              <a:t>Traditional surveys are time-consuming, costly, and difficult to scale across large or remote areas.</a:t>
            </a:r>
            <a:endParaRPr sz="1400" dirty="0"/>
          </a:p>
        </p:txBody>
      </p:sp>
      <p:sp>
        <p:nvSpPr>
          <p:cNvPr id="294" name="Google Shape;294;p39"/>
          <p:cNvSpPr txBox="1">
            <a:spLocks noGrp="1"/>
          </p:cNvSpPr>
          <p:nvPr>
            <p:ph type="subTitle" idx="2"/>
          </p:nvPr>
        </p:nvSpPr>
        <p:spPr>
          <a:xfrm>
            <a:off x="3744226" y="2398355"/>
            <a:ext cx="4525302" cy="5233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Erosion and landslides can damage or destroy</a:t>
            </a:r>
          </a:p>
          <a:p>
            <a:r>
              <a:rPr lang="en-US" sz="1400" dirty="0"/>
              <a:t>archaeological sites before they are discovered.</a:t>
            </a:r>
          </a:p>
        </p:txBody>
      </p:sp>
      <p:sp>
        <p:nvSpPr>
          <p:cNvPr id="295" name="Google Shape;295;p39"/>
          <p:cNvSpPr txBox="1">
            <a:spLocks noGrp="1"/>
          </p:cNvSpPr>
          <p:nvPr>
            <p:ph type="subTitle" idx="3"/>
          </p:nvPr>
        </p:nvSpPr>
        <p:spPr>
          <a:xfrm>
            <a:off x="3909757" y="3187665"/>
            <a:ext cx="4845300" cy="7976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400" dirty="0"/>
              <a:t>Existing satellite and geospatial data are underused due to limited AI-based analysis.</a:t>
            </a:r>
            <a:endParaRPr sz="1400" dirty="0"/>
          </a:p>
        </p:txBody>
      </p:sp>
      <p:sp>
        <p:nvSpPr>
          <p:cNvPr id="296" name="Google Shape;296;p39"/>
          <p:cNvSpPr txBox="1">
            <a:spLocks noGrp="1"/>
          </p:cNvSpPr>
          <p:nvPr>
            <p:ph type="subTitle" idx="6"/>
          </p:nvPr>
        </p:nvSpPr>
        <p:spPr>
          <a:xfrm>
            <a:off x="874473" y="3342770"/>
            <a:ext cx="214786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3. Limited use of AI</a:t>
            </a:r>
            <a:endParaRPr dirty="0"/>
          </a:p>
        </p:txBody>
      </p:sp>
      <p:cxnSp>
        <p:nvCxnSpPr>
          <p:cNvPr id="308" name="Google Shape;308;p39"/>
          <p:cNvCxnSpPr/>
          <p:nvPr/>
        </p:nvCxnSpPr>
        <p:spPr>
          <a:xfrm>
            <a:off x="590921" y="1400670"/>
            <a:ext cx="0" cy="72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39"/>
          <p:cNvCxnSpPr/>
          <p:nvPr/>
        </p:nvCxnSpPr>
        <p:spPr>
          <a:xfrm>
            <a:off x="590921" y="2371720"/>
            <a:ext cx="0" cy="72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39"/>
          <p:cNvCxnSpPr/>
          <p:nvPr/>
        </p:nvCxnSpPr>
        <p:spPr>
          <a:xfrm>
            <a:off x="590921" y="3342770"/>
            <a:ext cx="0" cy="72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Core Features</a:t>
            </a:r>
            <a:endParaRPr dirty="0"/>
          </a:p>
        </p:txBody>
      </p:sp>
      <p:sp>
        <p:nvSpPr>
          <p:cNvPr id="349" name="Google Shape;349;p41"/>
          <p:cNvSpPr txBox="1">
            <a:spLocks noGrp="1"/>
          </p:cNvSpPr>
          <p:nvPr>
            <p:ph type="subTitle" idx="1"/>
          </p:nvPr>
        </p:nvSpPr>
        <p:spPr>
          <a:xfrm>
            <a:off x="1099568" y="1911679"/>
            <a:ext cx="3702562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400" dirty="0"/>
              <a:t>AI models automatically identify archaeological artifacts from images.</a:t>
            </a:r>
            <a:endParaRPr sz="1400" dirty="0"/>
          </a:p>
        </p:txBody>
      </p:sp>
      <p:sp>
        <p:nvSpPr>
          <p:cNvPr id="350" name="Google Shape;350;p41"/>
          <p:cNvSpPr txBox="1">
            <a:spLocks noGrp="1"/>
          </p:cNvSpPr>
          <p:nvPr>
            <p:ph type="subTitle" idx="2"/>
          </p:nvPr>
        </p:nvSpPr>
        <p:spPr>
          <a:xfrm>
            <a:off x="5187948" y="1911679"/>
            <a:ext cx="3541018" cy="6337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Deep learning separates terrain features</a:t>
            </a:r>
          </a:p>
          <a:p>
            <a:r>
              <a:rPr lang="en-US" sz="1400" dirty="0"/>
              <a:t>from satellite imagery.</a:t>
            </a:r>
          </a:p>
        </p:txBody>
      </p:sp>
      <p:sp>
        <p:nvSpPr>
          <p:cNvPr id="351" name="Google Shape;351;p41"/>
          <p:cNvSpPr txBox="1">
            <a:spLocks noGrp="1"/>
          </p:cNvSpPr>
          <p:nvPr>
            <p:ph type="subTitle" idx="3"/>
          </p:nvPr>
        </p:nvSpPr>
        <p:spPr>
          <a:xfrm>
            <a:off x="1017326" y="3346400"/>
            <a:ext cx="4018834" cy="7354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Machine learning predicts erosion risk using</a:t>
            </a:r>
          </a:p>
          <a:p>
            <a:r>
              <a:rPr lang="en-US" sz="1400" dirty="0"/>
              <a:t>environmental data.</a:t>
            </a:r>
          </a:p>
          <a:p>
            <a:br>
              <a:rPr lang="en-US" sz="1400" dirty="0"/>
            </a:br>
            <a:endParaRPr lang="en-US" sz="1400" dirty="0"/>
          </a:p>
        </p:txBody>
      </p:sp>
      <p:sp>
        <p:nvSpPr>
          <p:cNvPr id="352" name="Google Shape;352;p41"/>
          <p:cNvSpPr txBox="1">
            <a:spLocks noGrp="1"/>
          </p:cNvSpPr>
          <p:nvPr>
            <p:ph type="subTitle" idx="4"/>
          </p:nvPr>
        </p:nvSpPr>
        <p:spPr>
          <a:xfrm>
            <a:off x="5335099" y="3346391"/>
            <a:ext cx="341001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400" dirty="0"/>
              <a:t>A single dashboard displays all model outputs clearly.</a:t>
            </a:r>
            <a:endParaRPr sz="1400" dirty="0"/>
          </a:p>
        </p:txBody>
      </p:sp>
      <p:sp>
        <p:nvSpPr>
          <p:cNvPr id="353" name="Google Shape;353;p41"/>
          <p:cNvSpPr txBox="1">
            <a:spLocks noGrp="1"/>
          </p:cNvSpPr>
          <p:nvPr>
            <p:ph type="subTitle" idx="7"/>
          </p:nvPr>
        </p:nvSpPr>
        <p:spPr>
          <a:xfrm>
            <a:off x="1017325" y="1163370"/>
            <a:ext cx="3550775" cy="5277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Automated Artifact Detection</a:t>
            </a:r>
            <a:endParaRPr dirty="0"/>
          </a:p>
        </p:txBody>
      </p:sp>
      <p:sp>
        <p:nvSpPr>
          <p:cNvPr id="354" name="Google Shape;354;p41"/>
          <p:cNvSpPr txBox="1">
            <a:spLocks noGrp="1"/>
          </p:cNvSpPr>
          <p:nvPr>
            <p:ph type="subTitle" idx="8"/>
          </p:nvPr>
        </p:nvSpPr>
        <p:spPr>
          <a:xfrm>
            <a:off x="5182769" y="1258579"/>
            <a:ext cx="3415189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Terrain and Land-feature segmentation</a:t>
            </a:r>
            <a:endParaRPr dirty="0"/>
          </a:p>
        </p:txBody>
      </p:sp>
      <p:sp>
        <p:nvSpPr>
          <p:cNvPr id="358" name="Google Shape;358;p41"/>
          <p:cNvSpPr txBox="1">
            <a:spLocks noGrp="1"/>
          </p:cNvSpPr>
          <p:nvPr>
            <p:ph type="subTitle" idx="13"/>
          </p:nvPr>
        </p:nvSpPr>
        <p:spPr>
          <a:xfrm>
            <a:off x="865538" y="2815495"/>
            <a:ext cx="3702562" cy="4356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 Predictive erosion analysis</a:t>
            </a:r>
          </a:p>
        </p:txBody>
      </p:sp>
      <p:sp>
        <p:nvSpPr>
          <p:cNvPr id="359" name="Google Shape;359;p41"/>
          <p:cNvSpPr txBox="1">
            <a:spLocks noGrp="1"/>
          </p:cNvSpPr>
          <p:nvPr>
            <p:ph type="subTitle" idx="14"/>
          </p:nvPr>
        </p:nvSpPr>
        <p:spPr>
          <a:xfrm>
            <a:off x="5187948" y="2598091"/>
            <a:ext cx="3705038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Unified visualization dashboard</a:t>
            </a:r>
            <a:endParaRPr dirty="0"/>
          </a:p>
        </p:txBody>
      </p:sp>
      <p:cxnSp>
        <p:nvCxnSpPr>
          <p:cNvPr id="361" name="Google Shape;361;p41"/>
          <p:cNvCxnSpPr>
            <a:cxnSpLocks/>
          </p:cNvCxnSpPr>
          <p:nvPr/>
        </p:nvCxnSpPr>
        <p:spPr>
          <a:xfrm flipH="1">
            <a:off x="722750" y="1258600"/>
            <a:ext cx="3900" cy="313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" name="Google Shape;362;p41"/>
          <p:cNvCxnSpPr>
            <a:cxnSpLocks/>
          </p:cNvCxnSpPr>
          <p:nvPr/>
        </p:nvCxnSpPr>
        <p:spPr>
          <a:xfrm flipH="1">
            <a:off x="5036160" y="1258591"/>
            <a:ext cx="3900" cy="313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96ED18F7-6D98-781A-6D50-1DECDBF9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>
            <a:extLst>
              <a:ext uri="{FF2B5EF4-FFF2-40B4-BE49-F238E27FC236}">
                <a16:creationId xmlns:a16="http://schemas.microsoft.com/office/drawing/2014/main" id="{FBB601B9-F6C9-7F9C-ACD9-FC2103EBBD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Challenges</a:t>
            </a:r>
            <a:endParaRPr dirty="0"/>
          </a:p>
        </p:txBody>
      </p:sp>
      <p:sp>
        <p:nvSpPr>
          <p:cNvPr id="291" name="Google Shape;291;p39">
            <a:extLst>
              <a:ext uri="{FF2B5EF4-FFF2-40B4-BE49-F238E27FC236}">
                <a16:creationId xmlns:a16="http://schemas.microsoft.com/office/drawing/2014/main" id="{43893BD5-3AA1-0197-5325-49A063F58CD0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874472" y="1400670"/>
            <a:ext cx="2869754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1. Manual archaeological surveys</a:t>
            </a:r>
            <a:endParaRPr dirty="0"/>
          </a:p>
        </p:txBody>
      </p:sp>
      <p:sp>
        <p:nvSpPr>
          <p:cNvPr id="292" name="Google Shape;292;p39">
            <a:extLst>
              <a:ext uri="{FF2B5EF4-FFF2-40B4-BE49-F238E27FC236}">
                <a16:creationId xmlns:a16="http://schemas.microsoft.com/office/drawing/2014/main" id="{7D4211A9-67F8-A1E2-2668-CEAD9DE24AB1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874472" y="2371720"/>
            <a:ext cx="2704223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2. Terrain degradation and erosion</a:t>
            </a:r>
            <a:endParaRPr dirty="0"/>
          </a:p>
        </p:txBody>
      </p:sp>
      <p:sp>
        <p:nvSpPr>
          <p:cNvPr id="293" name="Google Shape;293;p39">
            <a:extLst>
              <a:ext uri="{FF2B5EF4-FFF2-40B4-BE49-F238E27FC236}">
                <a16:creationId xmlns:a16="http://schemas.microsoft.com/office/drawing/2014/main" id="{D9B443E1-EA60-1898-E31D-B89700E1AD2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25210" y="163710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Traditional surveys are time-consuming, costly, and difficult to scale across large or remote areas.</a:t>
            </a:r>
            <a:endParaRPr dirty="0"/>
          </a:p>
        </p:txBody>
      </p:sp>
      <p:sp>
        <p:nvSpPr>
          <p:cNvPr id="294" name="Google Shape;294;p39">
            <a:extLst>
              <a:ext uri="{FF2B5EF4-FFF2-40B4-BE49-F238E27FC236}">
                <a16:creationId xmlns:a16="http://schemas.microsoft.com/office/drawing/2014/main" id="{162AADD2-DB31-C283-E387-3259692CD11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744226" y="2398355"/>
            <a:ext cx="4140766" cy="5233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Erosion and landslides can damage or destroy archaeological sites before they are discovered.</a:t>
            </a:r>
          </a:p>
        </p:txBody>
      </p:sp>
      <p:sp>
        <p:nvSpPr>
          <p:cNvPr id="295" name="Google Shape;295;p39">
            <a:extLst>
              <a:ext uri="{FF2B5EF4-FFF2-40B4-BE49-F238E27FC236}">
                <a16:creationId xmlns:a16="http://schemas.microsoft.com/office/drawing/2014/main" id="{BA36E060-E760-3004-CFB8-3CDDB7866C5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925210" y="338028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Existing satellite and geospatial data are underused due to limited AI-based analysis.</a:t>
            </a:r>
            <a:endParaRPr dirty="0"/>
          </a:p>
        </p:txBody>
      </p:sp>
      <p:sp>
        <p:nvSpPr>
          <p:cNvPr id="296" name="Google Shape;296;p39">
            <a:extLst>
              <a:ext uri="{FF2B5EF4-FFF2-40B4-BE49-F238E27FC236}">
                <a16:creationId xmlns:a16="http://schemas.microsoft.com/office/drawing/2014/main" id="{9CEA5C86-8512-FF53-A6A0-D29B3E801F1A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874473" y="3342770"/>
            <a:ext cx="214786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3. Limited use of AI</a:t>
            </a:r>
            <a:endParaRPr dirty="0"/>
          </a:p>
        </p:txBody>
      </p:sp>
      <p:cxnSp>
        <p:nvCxnSpPr>
          <p:cNvPr id="308" name="Google Shape;308;p39">
            <a:extLst>
              <a:ext uri="{FF2B5EF4-FFF2-40B4-BE49-F238E27FC236}">
                <a16:creationId xmlns:a16="http://schemas.microsoft.com/office/drawing/2014/main" id="{6A092E51-3EB5-34C3-D942-A3CF2E2DEAA8}"/>
              </a:ext>
            </a:extLst>
          </p:cNvPr>
          <p:cNvCxnSpPr/>
          <p:nvPr/>
        </p:nvCxnSpPr>
        <p:spPr>
          <a:xfrm>
            <a:off x="590921" y="1400670"/>
            <a:ext cx="0" cy="72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39">
            <a:extLst>
              <a:ext uri="{FF2B5EF4-FFF2-40B4-BE49-F238E27FC236}">
                <a16:creationId xmlns:a16="http://schemas.microsoft.com/office/drawing/2014/main" id="{A360D86D-418B-819F-1C20-BFED73D0DD09}"/>
              </a:ext>
            </a:extLst>
          </p:cNvPr>
          <p:cNvCxnSpPr/>
          <p:nvPr/>
        </p:nvCxnSpPr>
        <p:spPr>
          <a:xfrm>
            <a:off x="590921" y="2371720"/>
            <a:ext cx="0" cy="72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39">
            <a:extLst>
              <a:ext uri="{FF2B5EF4-FFF2-40B4-BE49-F238E27FC236}">
                <a16:creationId xmlns:a16="http://schemas.microsoft.com/office/drawing/2014/main" id="{242F8173-8D4A-4B9B-18F6-41908C809356}"/>
              </a:ext>
            </a:extLst>
          </p:cNvPr>
          <p:cNvCxnSpPr/>
          <p:nvPr/>
        </p:nvCxnSpPr>
        <p:spPr>
          <a:xfrm>
            <a:off x="590921" y="3342770"/>
            <a:ext cx="0" cy="72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61086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>
            <a:extLst>
              <a:ext uri="{FF2B5EF4-FFF2-40B4-BE49-F238E27FC236}">
                <a16:creationId xmlns:a16="http://schemas.microsoft.com/office/drawing/2014/main" id="{ACCE830D-FE37-7A49-AE11-E62FCDCA9866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5824038" y="3443588"/>
            <a:ext cx="28069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Streamlit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-based interactive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" panose="020B0604020202020204" charset="0"/>
            </a:endParaRPr>
          </a:p>
        </p:txBody>
      </p:sp>
      <p:grpSp>
        <p:nvGrpSpPr>
          <p:cNvPr id="21" name="Google Shape;7856;p64">
            <a:extLst>
              <a:ext uri="{FF2B5EF4-FFF2-40B4-BE49-F238E27FC236}">
                <a16:creationId xmlns:a16="http://schemas.microsoft.com/office/drawing/2014/main" id="{6C942485-39BE-94B0-E28B-0F7C747A15CA}"/>
              </a:ext>
            </a:extLst>
          </p:cNvPr>
          <p:cNvGrpSpPr/>
          <p:nvPr/>
        </p:nvGrpSpPr>
        <p:grpSpPr>
          <a:xfrm>
            <a:off x="259306" y="109182"/>
            <a:ext cx="8786648" cy="4626592"/>
            <a:chOff x="238125" y="1188750"/>
            <a:chExt cx="7283040" cy="3335550"/>
          </a:xfrm>
        </p:grpSpPr>
        <p:sp>
          <p:nvSpPr>
            <p:cNvPr id="22" name="Google Shape;7857;p64">
              <a:extLst>
                <a:ext uri="{FF2B5EF4-FFF2-40B4-BE49-F238E27FC236}">
                  <a16:creationId xmlns:a16="http://schemas.microsoft.com/office/drawing/2014/main" id="{F565AD57-D12D-6690-1C31-B3CEF7980CF5}"/>
                </a:ext>
              </a:extLst>
            </p:cNvPr>
            <p:cNvSpPr/>
            <p:nvPr/>
          </p:nvSpPr>
          <p:spPr>
            <a:xfrm>
              <a:off x="238125" y="118875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1" y="0"/>
                  </a:moveTo>
                  <a:cubicBezTo>
                    <a:pt x="1801" y="6"/>
                    <a:pt x="6" y="1801"/>
                    <a:pt x="0" y="4021"/>
                  </a:cubicBezTo>
                  <a:lnTo>
                    <a:pt x="0" y="59338"/>
                  </a:lnTo>
                  <a:cubicBezTo>
                    <a:pt x="6" y="61552"/>
                    <a:pt x="1801" y="63354"/>
                    <a:pt x="4021" y="63359"/>
                  </a:cubicBezTo>
                  <a:lnTo>
                    <a:pt x="98272" y="63359"/>
                  </a:lnTo>
                  <a:cubicBezTo>
                    <a:pt x="99963" y="41512"/>
                    <a:pt x="118098" y="24204"/>
                    <a:pt x="140280" y="23813"/>
                  </a:cubicBezTo>
                  <a:lnTo>
                    <a:pt x="140280" y="4021"/>
                  </a:lnTo>
                  <a:cubicBezTo>
                    <a:pt x="140275" y="1801"/>
                    <a:pt x="138474" y="6"/>
                    <a:pt x="13625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858;p64">
              <a:extLst>
                <a:ext uri="{FF2B5EF4-FFF2-40B4-BE49-F238E27FC236}">
                  <a16:creationId xmlns:a16="http://schemas.microsoft.com/office/drawing/2014/main" id="{2481086D-24A6-2F9D-65B2-2DE525621DA5}"/>
                </a:ext>
              </a:extLst>
            </p:cNvPr>
            <p:cNvSpPr/>
            <p:nvPr/>
          </p:nvSpPr>
          <p:spPr>
            <a:xfrm>
              <a:off x="238125" y="294030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1" y="1"/>
                  </a:moveTo>
                  <a:cubicBezTo>
                    <a:pt x="1801" y="6"/>
                    <a:pt x="6" y="1808"/>
                    <a:pt x="0" y="4022"/>
                  </a:cubicBezTo>
                  <a:lnTo>
                    <a:pt x="0" y="59339"/>
                  </a:lnTo>
                  <a:cubicBezTo>
                    <a:pt x="6" y="61559"/>
                    <a:pt x="1801" y="63354"/>
                    <a:pt x="4021" y="63360"/>
                  </a:cubicBezTo>
                  <a:lnTo>
                    <a:pt x="136259" y="63360"/>
                  </a:lnTo>
                  <a:cubicBezTo>
                    <a:pt x="138474" y="63354"/>
                    <a:pt x="140275" y="61559"/>
                    <a:pt x="140280" y="59339"/>
                  </a:cubicBezTo>
                  <a:lnTo>
                    <a:pt x="140280" y="39547"/>
                  </a:lnTo>
                  <a:cubicBezTo>
                    <a:pt x="118098" y="39155"/>
                    <a:pt x="99963" y="21848"/>
                    <a:pt x="9827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859;p64">
              <a:extLst>
                <a:ext uri="{FF2B5EF4-FFF2-40B4-BE49-F238E27FC236}">
                  <a16:creationId xmlns:a16="http://schemas.microsoft.com/office/drawing/2014/main" id="{8B1B2164-90A0-77C9-DFED-1DF87D7CFD98}"/>
                </a:ext>
              </a:extLst>
            </p:cNvPr>
            <p:cNvSpPr/>
            <p:nvPr/>
          </p:nvSpPr>
          <p:spPr>
            <a:xfrm>
              <a:off x="3778155" y="1188750"/>
              <a:ext cx="3743010" cy="1583999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2" y="0"/>
                  </a:moveTo>
                  <a:cubicBezTo>
                    <a:pt x="1807" y="6"/>
                    <a:pt x="6" y="1801"/>
                    <a:pt x="0" y="4021"/>
                  </a:cubicBezTo>
                  <a:lnTo>
                    <a:pt x="0" y="24017"/>
                  </a:lnTo>
                  <a:cubicBezTo>
                    <a:pt x="20553" y="26066"/>
                    <a:pt x="36886" y="42675"/>
                    <a:pt x="38494" y="63359"/>
                  </a:cubicBezTo>
                  <a:lnTo>
                    <a:pt x="136260" y="63359"/>
                  </a:lnTo>
                  <a:cubicBezTo>
                    <a:pt x="138480" y="63354"/>
                    <a:pt x="140275" y="61552"/>
                    <a:pt x="140281" y="59338"/>
                  </a:cubicBezTo>
                  <a:lnTo>
                    <a:pt x="140281" y="4021"/>
                  </a:lnTo>
                  <a:cubicBezTo>
                    <a:pt x="140275" y="1801"/>
                    <a:pt x="138480" y="6"/>
                    <a:pt x="13626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7860;p64">
              <a:extLst>
                <a:ext uri="{FF2B5EF4-FFF2-40B4-BE49-F238E27FC236}">
                  <a16:creationId xmlns:a16="http://schemas.microsoft.com/office/drawing/2014/main" id="{F5DFB716-328D-41BF-7A52-420D3DCF884F}"/>
                </a:ext>
              </a:extLst>
            </p:cNvPr>
            <p:cNvSpPr/>
            <p:nvPr/>
          </p:nvSpPr>
          <p:spPr>
            <a:xfrm>
              <a:off x="3871550" y="294030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38494" y="1"/>
                  </a:moveTo>
                  <a:cubicBezTo>
                    <a:pt x="36886" y="20680"/>
                    <a:pt x="20553" y="37294"/>
                    <a:pt x="0" y="39343"/>
                  </a:cubicBezTo>
                  <a:lnTo>
                    <a:pt x="0" y="59339"/>
                  </a:lnTo>
                  <a:cubicBezTo>
                    <a:pt x="6" y="61559"/>
                    <a:pt x="1807" y="63354"/>
                    <a:pt x="4022" y="63360"/>
                  </a:cubicBezTo>
                  <a:lnTo>
                    <a:pt x="136260" y="63360"/>
                  </a:lnTo>
                  <a:cubicBezTo>
                    <a:pt x="138480" y="63354"/>
                    <a:pt x="140275" y="61559"/>
                    <a:pt x="140281" y="59339"/>
                  </a:cubicBezTo>
                  <a:lnTo>
                    <a:pt x="140281" y="4022"/>
                  </a:lnTo>
                  <a:cubicBezTo>
                    <a:pt x="140275" y="1808"/>
                    <a:pt x="138480" y="6"/>
                    <a:pt x="13626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7861;p64">
              <a:extLst>
                <a:ext uri="{FF2B5EF4-FFF2-40B4-BE49-F238E27FC236}">
                  <a16:creationId xmlns:a16="http://schemas.microsoft.com/office/drawing/2014/main" id="{7B5BF4B0-810C-B619-7308-EBE643FCC324}"/>
                </a:ext>
              </a:extLst>
            </p:cNvPr>
            <p:cNvSpPr/>
            <p:nvPr/>
          </p:nvSpPr>
          <p:spPr>
            <a:xfrm>
              <a:off x="2842425" y="1934600"/>
              <a:ext cx="1843850" cy="1843850"/>
            </a:xfrm>
            <a:custGeom>
              <a:avLst/>
              <a:gdLst/>
              <a:ahLst/>
              <a:cxnLst/>
              <a:rect l="l" t="t" r="r" b="b"/>
              <a:pathLst>
                <a:path w="73754" h="73754" extrusionOk="0">
                  <a:moveTo>
                    <a:pt x="36880" y="0"/>
                  </a:moveTo>
                  <a:cubicBezTo>
                    <a:pt x="36621" y="0"/>
                    <a:pt x="36362" y="6"/>
                    <a:pt x="36108" y="11"/>
                  </a:cubicBezTo>
                  <a:cubicBezTo>
                    <a:pt x="17253" y="397"/>
                    <a:pt x="1834" y="15011"/>
                    <a:pt x="154" y="33525"/>
                  </a:cubicBezTo>
                  <a:cubicBezTo>
                    <a:pt x="55" y="34627"/>
                    <a:pt x="0" y="35745"/>
                    <a:pt x="0" y="36874"/>
                  </a:cubicBezTo>
                  <a:cubicBezTo>
                    <a:pt x="0" y="38009"/>
                    <a:pt x="55" y="39122"/>
                    <a:pt x="154" y="40229"/>
                  </a:cubicBezTo>
                  <a:cubicBezTo>
                    <a:pt x="1834" y="58749"/>
                    <a:pt x="17253" y="73357"/>
                    <a:pt x="36108" y="73743"/>
                  </a:cubicBezTo>
                  <a:cubicBezTo>
                    <a:pt x="36362" y="73748"/>
                    <a:pt x="36621" y="73754"/>
                    <a:pt x="36880" y="73754"/>
                  </a:cubicBezTo>
                  <a:cubicBezTo>
                    <a:pt x="38312" y="73754"/>
                    <a:pt x="39744" y="73666"/>
                    <a:pt x="41165" y="73500"/>
                  </a:cubicBezTo>
                  <a:cubicBezTo>
                    <a:pt x="58391" y="71495"/>
                    <a:pt x="72030" y="57581"/>
                    <a:pt x="73600" y="40229"/>
                  </a:cubicBezTo>
                  <a:cubicBezTo>
                    <a:pt x="73699" y="39127"/>
                    <a:pt x="73754" y="38009"/>
                    <a:pt x="73754" y="36874"/>
                  </a:cubicBezTo>
                  <a:cubicBezTo>
                    <a:pt x="73754" y="35745"/>
                    <a:pt x="73699" y="34632"/>
                    <a:pt x="73600" y="33525"/>
                  </a:cubicBezTo>
                  <a:cubicBezTo>
                    <a:pt x="72024" y="16173"/>
                    <a:pt x="58391" y="2259"/>
                    <a:pt x="41165" y="254"/>
                  </a:cubicBezTo>
                  <a:cubicBezTo>
                    <a:pt x="39744" y="88"/>
                    <a:pt x="38312" y="0"/>
                    <a:pt x="3688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D4FC8EE-5400-55E3-324E-651B2E96CD4C}"/>
              </a:ext>
            </a:extLst>
          </p:cNvPr>
          <p:cNvSpPr txBox="1"/>
          <p:nvPr/>
        </p:nvSpPr>
        <p:spPr>
          <a:xfrm>
            <a:off x="416583" y="1046485"/>
            <a:ext cx="33324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U-Net trained on satellite and DEM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Outputs pixel-level terrain classification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829313-DB2D-3C2B-5BE3-C3E13FEFB83C}"/>
              </a:ext>
            </a:extLst>
          </p:cNvPr>
          <p:cNvSpPr txBox="1"/>
          <p:nvPr/>
        </p:nvSpPr>
        <p:spPr>
          <a:xfrm>
            <a:off x="5862210" y="708012"/>
            <a:ext cx="318374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YOLOv5 trained on annotated artifact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Detects and classifies archaeological objects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078366-27BA-D331-158F-DE18C7700AA3}"/>
              </a:ext>
            </a:extLst>
          </p:cNvPr>
          <p:cNvSpPr txBox="1"/>
          <p:nvPr/>
        </p:nvSpPr>
        <p:spPr>
          <a:xfrm>
            <a:off x="577222" y="3507572"/>
            <a:ext cx="33523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Regression-based ML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Uses NDVI, slope, DEM, and climate features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4F356B-B198-64EB-69DE-4B7B6B96CBB2}"/>
              </a:ext>
            </a:extLst>
          </p:cNvPr>
          <p:cNvSpPr txBox="1"/>
          <p:nvPr/>
        </p:nvSpPr>
        <p:spPr>
          <a:xfrm>
            <a:off x="3421832" y="1803033"/>
            <a:ext cx="24420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Manrope" panose="020B0604020202020204" charset="0"/>
              </a:rPr>
              <a:t>System Architecture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71A116-4E8B-46FF-D36D-62108F7603CB}"/>
              </a:ext>
            </a:extLst>
          </p:cNvPr>
          <p:cNvSpPr txBox="1"/>
          <p:nvPr/>
        </p:nvSpPr>
        <p:spPr>
          <a:xfrm>
            <a:off x="416583" y="466641"/>
            <a:ext cx="32022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Semantic Segmentation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" panose="020B060402020202020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250300-A381-F554-9EBE-4D5212E86E1E}"/>
              </a:ext>
            </a:extLst>
          </p:cNvPr>
          <p:cNvSpPr txBox="1"/>
          <p:nvPr/>
        </p:nvSpPr>
        <p:spPr>
          <a:xfrm>
            <a:off x="5038284" y="475609"/>
            <a:ext cx="48315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Object Detection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0168F5-5138-F1BA-085A-84A84282D661}"/>
              </a:ext>
            </a:extLst>
          </p:cNvPr>
          <p:cNvSpPr txBox="1"/>
          <p:nvPr/>
        </p:nvSpPr>
        <p:spPr>
          <a:xfrm>
            <a:off x="522975" y="2928867"/>
            <a:ext cx="5102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Erosion Prediction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" panose="020B060402020202020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D9D84A-EE04-309B-82ED-C934031B042A}"/>
              </a:ext>
            </a:extLst>
          </p:cNvPr>
          <p:cNvSpPr txBox="1"/>
          <p:nvPr/>
        </p:nvSpPr>
        <p:spPr>
          <a:xfrm>
            <a:off x="5862210" y="2829079"/>
            <a:ext cx="5102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Deployment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" panose="020B06040202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F4167C9-6BE3-8EE7-4948-EF01A357A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57200"/>
            <a:ext cx="9144000" cy="5867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3051E3-0C78-FD35-2D20-ED4F958CE600}"/>
              </a:ext>
            </a:extLst>
          </p:cNvPr>
          <p:cNvSpPr txBox="1"/>
          <p:nvPr/>
        </p:nvSpPr>
        <p:spPr>
          <a:xfrm>
            <a:off x="271083" y="440877"/>
            <a:ext cx="4652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Manrope" panose="020B0604020202020204" charset="0"/>
              </a:rPr>
              <a:t>Architecture Diagram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>
          <a:extLst>
            <a:ext uri="{FF2B5EF4-FFF2-40B4-BE49-F238E27FC236}">
              <a16:creationId xmlns:a16="http://schemas.microsoft.com/office/drawing/2014/main" id="{11A4E2F5-B119-4B65-391E-486099C19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1D5490-3A6F-C68E-2787-EA2D23C60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423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A2C0C5-8324-9183-2697-C6290D1D2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638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D8D37-024D-01A7-8138-CD304EFDC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0D1CF2-68A9-FC4E-E6E8-C48C4AF0D25E}"/>
              </a:ext>
            </a:extLst>
          </p:cNvPr>
          <p:cNvSpPr txBox="1"/>
          <p:nvPr/>
        </p:nvSpPr>
        <p:spPr>
          <a:xfrm>
            <a:off x="2634712" y="1402301"/>
            <a:ext cx="603659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tx1"/>
                </a:solidFill>
                <a:latin typeface="Manrope" panose="020B0604020202020204" charset="0"/>
              </a:rPr>
              <a:t>Thank you</a:t>
            </a:r>
            <a:endParaRPr lang="en-IN" sz="4400" dirty="0">
              <a:solidFill>
                <a:schemeClr val="tx1"/>
              </a:solidFill>
              <a:latin typeface="Manrop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359761"/>
      </p:ext>
    </p:extLst>
  </p:cSld>
  <p:clrMapOvr>
    <a:masterClrMapping/>
  </p:clrMapOvr>
</p:sld>
</file>

<file path=ppt/theme/theme1.xml><?xml version="1.0" encoding="utf-8"?>
<a:theme xmlns:a="http://schemas.openxmlformats.org/drawingml/2006/main" name="Brand Key Pitch Deck by Slidesgo">
  <a:themeElements>
    <a:clrScheme name="Simple Light">
      <a:dk1>
        <a:srgbClr val="424651"/>
      </a:dk1>
      <a:lt1>
        <a:srgbClr val="EAEFF4"/>
      </a:lt1>
      <a:dk2>
        <a:srgbClr val="A3ABB7"/>
      </a:dk2>
      <a:lt2>
        <a:srgbClr val="518CDE"/>
      </a:lt2>
      <a:accent1>
        <a:srgbClr val="595BD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246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340</Words>
  <Application>Microsoft Office PowerPoint</Application>
  <PresentationFormat>On-screen Show (16:9)</PresentationFormat>
  <Paragraphs>68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Raleway</vt:lpstr>
      <vt:lpstr>Roboto</vt:lpstr>
      <vt:lpstr>Roboto Light</vt:lpstr>
      <vt:lpstr>Manrope</vt:lpstr>
      <vt:lpstr>Nunito Light</vt:lpstr>
      <vt:lpstr>Brand Key Pitch Deck by Slidesgo</vt:lpstr>
      <vt:lpstr>PowerPoint Presentation</vt:lpstr>
      <vt:lpstr>Introduction to AI-Driven Archaeological Site Mapping</vt:lpstr>
      <vt:lpstr>Technology Stack</vt:lpstr>
      <vt:lpstr>Challenges</vt:lpstr>
      <vt:lpstr>Core Features</vt:lpstr>
      <vt:lpstr>Challenges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ALSHIFANA</dc:creator>
  <cp:lastModifiedBy>Arun rdy</cp:lastModifiedBy>
  <cp:revision>5</cp:revision>
  <dcterms:modified xsi:type="dcterms:W3CDTF">2026-01-21T10:23:23Z</dcterms:modified>
</cp:coreProperties>
</file>