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99" r:id="rId2"/>
    <p:sldId id="259" r:id="rId3"/>
    <p:sldId id="258" r:id="rId4"/>
    <p:sldId id="262" r:id="rId5"/>
    <p:sldId id="264" r:id="rId6"/>
    <p:sldId id="297" r:id="rId7"/>
    <p:sldId id="261" r:id="rId8"/>
    <p:sldId id="277" r:id="rId9"/>
    <p:sldId id="298" r:id="rId10"/>
    <p:sldId id="300" r:id="rId11"/>
    <p:sldId id="301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Nunito Light" pitchFamily="2" charset="0"/>
      <p:regular r:id="rId16"/>
      <p:italic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8DB912-D6FF-4BA9-8C6A-011195812070}">
  <a:tblStyle styleId="{818DB912-D6FF-4BA9-8C6A-011195812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FEDE81-25B7-428B-B45C-86BBD3DB86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E9EE0ADA-6624-EF4D-2193-9A3472C6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4C6138E3-D6DC-A49E-054F-160EE4208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2BA52303-3725-3E36-012B-4909FF5E8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28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AF97114-5BEA-ABC3-5028-42783550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d99d1a72_0_15:notes">
            <a:extLst>
              <a:ext uri="{FF2B5EF4-FFF2-40B4-BE49-F238E27FC236}">
                <a16:creationId xmlns:a16="http://schemas.microsoft.com/office/drawing/2014/main" id="{70B4E2C4-4AFF-C86E-5C78-60951D475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d99d1a72_0_15:notes">
            <a:extLst>
              <a:ext uri="{FF2B5EF4-FFF2-40B4-BE49-F238E27FC236}">
                <a16:creationId xmlns:a16="http://schemas.microsoft.com/office/drawing/2014/main" id="{1332D3BD-8B0E-55CD-7097-86271D6AD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83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>
          <a:extLst>
            <a:ext uri="{FF2B5EF4-FFF2-40B4-BE49-F238E27FC236}">
              <a16:creationId xmlns:a16="http://schemas.microsoft.com/office/drawing/2014/main" id="{7E79A13F-FCCA-46BF-89DF-1A55F951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e96b905680_0_540:notes">
            <a:extLst>
              <a:ext uri="{FF2B5EF4-FFF2-40B4-BE49-F238E27FC236}">
                <a16:creationId xmlns:a16="http://schemas.microsoft.com/office/drawing/2014/main" id="{4426B57C-4977-8523-9AF2-D0F171D66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e96b905680_0_540:notes">
            <a:extLst>
              <a:ext uri="{FF2B5EF4-FFF2-40B4-BE49-F238E27FC236}">
                <a16:creationId xmlns:a16="http://schemas.microsoft.com/office/drawing/2014/main" id="{8C698305-447A-CA7B-9F40-75FDA96F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11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170425" y="1460700"/>
            <a:ext cx="3558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170425" y="2539800"/>
            <a:ext cx="35589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2190525" y="33584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190525" y="18817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2190525" y="15064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2190525" y="29831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36" name="Google Shape;36;p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l="79576" r="9658"/>
          <a:stretch/>
        </p:blipFill>
        <p:spPr>
          <a:xfrm>
            <a:off x="0" y="1506475"/>
            <a:ext cx="281551" cy="2615201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796200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96200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0"/>
            <a:ext cx="9150050" cy="4122174"/>
            <a:chOff x="0" y="0"/>
            <a:chExt cx="9150050" cy="4122174"/>
          </a:xfrm>
        </p:grpSpPr>
        <p:pic>
          <p:nvPicPr>
            <p:cNvPr id="91" name="Google Shape;91;p13"/>
            <p:cNvPicPr preferRelativeResize="0"/>
            <p:nvPr/>
          </p:nvPicPr>
          <p:blipFill rotWithShape="1">
            <a:blip r:embed="rId2">
              <a:alphaModFix/>
            </a:blip>
            <a:srcRect l="62264" r="26819"/>
            <a:stretch/>
          </p:blipFill>
          <p:spPr>
            <a:xfrm flipH="1">
              <a:off x="0" y="1542875"/>
              <a:ext cx="281551" cy="25792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/>
            </a:blip>
            <a:srcRect t="15289" b="58439"/>
            <a:stretch/>
          </p:blipFill>
          <p:spPr>
            <a:xfrm flipH="1">
              <a:off x="7737475" y="0"/>
              <a:ext cx="14125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93" name="Google Shape;93;p1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1017326" y="178635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3709511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709499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6401672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6401672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7"/>
          </p:nvPr>
        </p:nvSpPr>
        <p:spPr>
          <a:xfrm>
            <a:off x="1017326" y="1258579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8"/>
          </p:nvPr>
        </p:nvSpPr>
        <p:spPr>
          <a:xfrm>
            <a:off x="3709511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9"/>
          </p:nvPr>
        </p:nvSpPr>
        <p:spPr>
          <a:xfrm>
            <a:off x="6401672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13"/>
          </p:nvPr>
        </p:nvSpPr>
        <p:spPr>
          <a:xfrm>
            <a:off x="1017326" y="2815504"/>
            <a:ext cx="1975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4"/>
          </p:nvPr>
        </p:nvSpPr>
        <p:spPr>
          <a:xfrm>
            <a:off x="3709511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5"/>
          </p:nvPr>
        </p:nvSpPr>
        <p:spPr>
          <a:xfrm>
            <a:off x="6401672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-12350" y="0"/>
            <a:ext cx="9176501" cy="3722113"/>
            <a:chOff x="-12350" y="0"/>
            <a:chExt cx="9176501" cy="3722113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-12350" y="163308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17800" y="0"/>
              <a:ext cx="346351" cy="12586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37" name="Google Shape;137;p1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3" r="16176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3" r="16176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2" r:id="rId10"/>
    <p:sldLayoutId id="2147483674" r:id="rId11"/>
    <p:sldLayoutId id="214748367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XII0v7jr2nGM-1PSZFaH-kwtJRLxhaWQ/view?usp=drive_link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08F0BEB5-3D1D-171E-3A60-8A11863D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261EF5C-18BB-90E1-7832-F8E0411392E3}"/>
              </a:ext>
            </a:extLst>
          </p:cNvPr>
          <p:cNvSpPr txBox="1"/>
          <p:nvPr/>
        </p:nvSpPr>
        <p:spPr>
          <a:xfrm>
            <a:off x="805911" y="1143461"/>
            <a:ext cx="67340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424651"/>
                </a:solidFill>
                <a:effectLst/>
                <a:uLnTx/>
                <a:uFillTx/>
                <a:latin typeface="Manrope"/>
                <a:sym typeface="Manrope"/>
              </a:rPr>
              <a:t>AI-Driven Archaeological Site Mapping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009E90-8A39-6E69-4E3D-CE902131DC1F}"/>
              </a:ext>
            </a:extLst>
          </p:cNvPr>
          <p:cNvSpPr txBox="1"/>
          <p:nvPr/>
        </p:nvSpPr>
        <p:spPr>
          <a:xfrm>
            <a:off x="6509288" y="3445216"/>
            <a:ext cx="2882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Manrope" panose="020B0604020202020204" charset="0"/>
              </a:rPr>
              <a:t>By</a:t>
            </a:r>
          </a:p>
          <a:p>
            <a:endParaRPr lang="en-US" sz="1800" dirty="0">
              <a:latin typeface="Manrope" panose="020B0604020202020204" charset="0"/>
            </a:endParaRPr>
          </a:p>
          <a:p>
            <a:r>
              <a:rPr lang="en-US" sz="1800" dirty="0" err="1">
                <a:latin typeface="Manrope" panose="020B0604020202020204" charset="0"/>
              </a:rPr>
              <a:t>Alshifana.B</a:t>
            </a:r>
            <a:endParaRPr lang="en-IN" sz="1800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8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596988" y="1383249"/>
            <a:ext cx="808981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Introduction to AI-Driven Archaeological Site Mapping</a:t>
            </a:r>
          </a:p>
        </p:txBody>
      </p:sp>
      <p:sp>
        <p:nvSpPr>
          <p:cNvPr id="264" name="Google Shape;264;p36"/>
          <p:cNvSpPr txBox="1">
            <a:spLocks noGrp="1"/>
          </p:cNvSpPr>
          <p:nvPr>
            <p:ph type="subTitle" idx="1"/>
          </p:nvPr>
        </p:nvSpPr>
        <p:spPr>
          <a:xfrm>
            <a:off x="713225" y="2182992"/>
            <a:ext cx="7345894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latin typeface="Manrope" panose="020B0604020202020204" charset="0"/>
              </a:rPr>
              <a:t>This project presents an </a:t>
            </a:r>
            <a:r>
              <a:rPr lang="en-US" sz="1400" b="1" dirty="0">
                <a:latin typeface="Manrope" panose="020B0604020202020204" charset="0"/>
              </a:rPr>
              <a:t>AI-powered system</a:t>
            </a:r>
            <a:r>
              <a:rPr lang="en-US" sz="1400" dirty="0">
                <a:latin typeface="Manrope" panose="020B0604020202020204" charset="0"/>
              </a:rPr>
              <a:t> for archaeological site analysis using satellite and terrain data.</a:t>
            </a:r>
          </a:p>
          <a:p>
            <a:r>
              <a:rPr lang="en-US" sz="1400" dirty="0">
                <a:latin typeface="Manrope" panose="020B0604020202020204" charset="0"/>
              </a:rPr>
              <a:t>The platform integrates </a:t>
            </a:r>
            <a:r>
              <a:rPr lang="en-US" sz="1400" b="1" dirty="0">
                <a:latin typeface="Manrope" panose="020B0604020202020204" charset="0"/>
              </a:rPr>
              <a:t>deep learning models</a:t>
            </a:r>
            <a:r>
              <a:rPr lang="en-US" sz="1400" dirty="0">
                <a:latin typeface="Manrope" panose="020B0604020202020204" charset="0"/>
              </a:rPr>
              <a:t> to: Detect archaeological artifacts, Segment terrain features, Predict soil erosion risk</a:t>
            </a:r>
          </a:p>
          <a:p>
            <a:r>
              <a:rPr lang="en-US" sz="1400" dirty="0">
                <a:latin typeface="Manrope" panose="020B0604020202020204" charset="0"/>
              </a:rPr>
              <a:t>Designed to support </a:t>
            </a:r>
            <a:r>
              <a:rPr lang="en-US" sz="1400" b="1" dirty="0">
                <a:latin typeface="Manrope" panose="020B0604020202020204" charset="0"/>
              </a:rPr>
              <a:t>archaeologists, researchers, and planners</a:t>
            </a:r>
            <a:r>
              <a:rPr lang="en-US" sz="1400" dirty="0">
                <a:latin typeface="Manrope" panose="020B0604020202020204" charset="0"/>
              </a:rPr>
              <a:t> in early-stage site exploration.</a:t>
            </a:r>
          </a:p>
          <a:p>
            <a:r>
              <a:rPr lang="en-US" sz="1400" dirty="0">
                <a:latin typeface="Manrope" panose="020B0604020202020204" charset="0"/>
              </a:rPr>
              <a:t>Focuses on </a:t>
            </a:r>
            <a:r>
              <a:rPr lang="en-US" sz="1400" b="1" dirty="0">
                <a:latin typeface="Manrope" panose="020B0604020202020204" charset="0"/>
              </a:rPr>
              <a:t>automation, accuracy, and visual decision support</a:t>
            </a:r>
            <a:r>
              <a:rPr lang="en-US" sz="1400" dirty="0">
                <a:latin typeface="Manrope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Technology Stack</a:t>
            </a:r>
            <a:endParaRPr dirty="0"/>
          </a:p>
        </p:txBody>
      </p:sp>
      <p:sp>
        <p:nvSpPr>
          <p:cNvPr id="241" name="Google Shape;241;p35"/>
          <p:cNvSpPr txBox="1">
            <a:spLocks noGrp="1"/>
          </p:cNvSpPr>
          <p:nvPr>
            <p:ph type="title" idx="2"/>
          </p:nvPr>
        </p:nvSpPr>
        <p:spPr>
          <a:xfrm>
            <a:off x="796199" y="1568950"/>
            <a:ext cx="2567335" cy="480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Framework</a:t>
            </a:r>
            <a:endParaRPr sz="2200" dirty="0"/>
          </a:p>
        </p:txBody>
      </p:sp>
      <p:sp>
        <p:nvSpPr>
          <p:cNvPr id="242" name="Google Shape;242;p35"/>
          <p:cNvSpPr txBox="1">
            <a:spLocks noGrp="1"/>
          </p:cNvSpPr>
          <p:nvPr>
            <p:ph type="title" idx="3"/>
          </p:nvPr>
        </p:nvSpPr>
        <p:spPr>
          <a:xfrm>
            <a:off x="796199" y="3094002"/>
            <a:ext cx="272191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200" dirty="0"/>
              <a:t>Machine Learning</a:t>
            </a:r>
            <a:endParaRPr sz="2200" dirty="0"/>
          </a:p>
        </p:txBody>
      </p:sp>
      <p:sp>
        <p:nvSpPr>
          <p:cNvPr id="243" name="Google Shape;243;p35"/>
          <p:cNvSpPr txBox="1">
            <a:spLocks noGrp="1"/>
          </p:cNvSpPr>
          <p:nvPr>
            <p:ph type="title" idx="4"/>
          </p:nvPr>
        </p:nvSpPr>
        <p:spPr>
          <a:xfrm>
            <a:off x="3518115" y="1534705"/>
            <a:ext cx="279832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Deep Learning</a:t>
            </a:r>
            <a:endParaRPr sz="2200" dirty="0"/>
          </a:p>
        </p:txBody>
      </p:sp>
      <p:sp>
        <p:nvSpPr>
          <p:cNvPr id="244" name="Google Shape;244;p35"/>
          <p:cNvSpPr txBox="1">
            <a:spLocks noGrp="1"/>
          </p:cNvSpPr>
          <p:nvPr>
            <p:ph type="title" idx="5"/>
          </p:nvPr>
        </p:nvSpPr>
        <p:spPr>
          <a:xfrm>
            <a:off x="3439737" y="3094002"/>
            <a:ext cx="248895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Data Processing</a:t>
            </a:r>
            <a:endParaRPr sz="2200"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title" idx="6"/>
          </p:nvPr>
        </p:nvSpPr>
        <p:spPr>
          <a:xfrm>
            <a:off x="6102922" y="1513218"/>
            <a:ext cx="276141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200" dirty="0"/>
              <a:t>Computer Vision</a:t>
            </a:r>
            <a:endParaRPr sz="2200" dirty="0"/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 idx="7"/>
          </p:nvPr>
        </p:nvSpPr>
        <p:spPr>
          <a:xfrm>
            <a:off x="6083274" y="3094002"/>
            <a:ext cx="24889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200" dirty="0"/>
              <a:t>Visualization</a:t>
            </a:r>
            <a:endParaRPr sz="2200" dirty="0"/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8"/>
          </p:nvPr>
        </p:nvSpPr>
        <p:spPr>
          <a:xfrm>
            <a:off x="3439737" y="2064875"/>
            <a:ext cx="2491125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endParaRPr lang="en-IN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Segmentation Models </a:t>
            </a:r>
            <a:r>
              <a:rPr lang="en-IN" sz="1400" dirty="0" err="1"/>
              <a:t>PyTorch</a:t>
            </a:r>
            <a:r>
              <a:rPr lang="en-IN" sz="1400" dirty="0"/>
              <a:t> (SMP)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9"/>
          </p:nvPr>
        </p:nvSpPr>
        <p:spPr>
          <a:xfrm>
            <a:off x="6122571" y="1963908"/>
            <a:ext cx="2722119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YOLOv5</a:t>
            </a:r>
          </a:p>
        </p:txBody>
      </p:sp>
      <p:sp>
        <p:nvSpPr>
          <p:cNvPr id="250" name="Google Shape;250;p35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Scikit-Learn (Random Forest)</a:t>
            </a: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Pandas</a:t>
            </a:r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Matplotlib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 PIL</a:t>
            </a:r>
            <a:br>
              <a:rPr lang="en-IN" sz="1400" dirty="0"/>
            </a:br>
            <a:endParaRPr sz="1400" dirty="0"/>
          </a:p>
        </p:txBody>
      </p:sp>
      <p:cxnSp>
        <p:nvCxnSpPr>
          <p:cNvPr id="253" name="Google Shape;253;p35"/>
          <p:cNvCxnSpPr/>
          <p:nvPr/>
        </p:nvCxnSpPr>
        <p:spPr>
          <a:xfrm rot="10800000">
            <a:off x="720000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5"/>
          <p:cNvCxnSpPr/>
          <p:nvPr/>
        </p:nvCxnSpPr>
        <p:spPr>
          <a:xfrm rot="10800000">
            <a:off x="720000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5"/>
          <p:cNvCxnSpPr/>
          <p:nvPr/>
        </p:nvCxnSpPr>
        <p:spPr>
          <a:xfrm rot="10800000">
            <a:off x="3363538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5"/>
          <p:cNvCxnSpPr/>
          <p:nvPr/>
        </p:nvCxnSpPr>
        <p:spPr>
          <a:xfrm rot="10800000">
            <a:off x="3363538" y="3158863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5"/>
          <p:cNvCxnSpPr/>
          <p:nvPr/>
        </p:nvCxnSpPr>
        <p:spPr>
          <a:xfrm rot="10800000">
            <a:off x="6007075" y="1542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5"/>
          <p:cNvCxnSpPr/>
          <p:nvPr/>
        </p:nvCxnSpPr>
        <p:spPr>
          <a:xfrm rot="10800000">
            <a:off x="6007075" y="3158875"/>
            <a:ext cx="0" cy="96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D842930-0070-B388-4F8E-E43A815D91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96199" y="2107405"/>
            <a:ext cx="115608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dirty="0" err="1"/>
              <a:t>Streamlit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3909757" y="148074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Traditional surveys are time-consuming, costly, and difficult to scale across large or remote areas.</a:t>
            </a:r>
            <a:endParaRPr sz="1400" dirty="0"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525302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Erosion and landslides can damage or destroy</a:t>
            </a:r>
          </a:p>
          <a:p>
            <a:r>
              <a:rPr lang="en-US" sz="1400" dirty="0"/>
              <a:t>archaeological sites before they are discovered.</a:t>
            </a: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3"/>
          </p:nvPr>
        </p:nvSpPr>
        <p:spPr>
          <a:xfrm>
            <a:off x="3909757" y="3187665"/>
            <a:ext cx="4845300" cy="797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Existing satellite and geospatial data are underused due to limited AI-based analysis.</a:t>
            </a:r>
            <a:endParaRPr sz="1400" dirty="0"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/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/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Core Features</a:t>
            </a:r>
            <a:endParaRPr dirty="0"/>
          </a:p>
        </p:txBody>
      </p:sp>
      <p:sp>
        <p:nvSpPr>
          <p:cNvPr id="349" name="Google Shape;349;p41"/>
          <p:cNvSpPr txBox="1">
            <a:spLocks noGrp="1"/>
          </p:cNvSpPr>
          <p:nvPr>
            <p:ph type="subTitle" idx="1"/>
          </p:nvPr>
        </p:nvSpPr>
        <p:spPr>
          <a:xfrm>
            <a:off x="1099568" y="1911679"/>
            <a:ext cx="3702562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AI models automatically identify archaeological artifacts from images.</a:t>
            </a:r>
            <a:endParaRPr sz="1400" dirty="0"/>
          </a:p>
        </p:txBody>
      </p:sp>
      <p:sp>
        <p:nvSpPr>
          <p:cNvPr id="350" name="Google Shape;350;p41"/>
          <p:cNvSpPr txBox="1">
            <a:spLocks noGrp="1"/>
          </p:cNvSpPr>
          <p:nvPr>
            <p:ph type="subTitle" idx="2"/>
          </p:nvPr>
        </p:nvSpPr>
        <p:spPr>
          <a:xfrm>
            <a:off x="5187948" y="1911679"/>
            <a:ext cx="3541018" cy="633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Deep learning separates terrain features</a:t>
            </a:r>
          </a:p>
          <a:p>
            <a:r>
              <a:rPr lang="en-US" sz="1400" dirty="0"/>
              <a:t>from satellite imagery.</a:t>
            </a:r>
          </a:p>
        </p:txBody>
      </p:sp>
      <p:sp>
        <p:nvSpPr>
          <p:cNvPr id="351" name="Google Shape;351;p41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4018834" cy="735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Machine learning predicts erosion risk using</a:t>
            </a:r>
          </a:p>
          <a:p>
            <a:r>
              <a:rPr lang="en-US" sz="1400" dirty="0"/>
              <a:t>environmental data.</a:t>
            </a: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4"/>
          </p:nvPr>
        </p:nvSpPr>
        <p:spPr>
          <a:xfrm>
            <a:off x="5335099" y="3346391"/>
            <a:ext cx="341001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A single dashboard displays all model outputs clearly.</a:t>
            </a:r>
            <a:endParaRPr sz="1400" dirty="0"/>
          </a:p>
        </p:txBody>
      </p:sp>
      <p:sp>
        <p:nvSpPr>
          <p:cNvPr id="353" name="Google Shape;353;p41"/>
          <p:cNvSpPr txBox="1">
            <a:spLocks noGrp="1"/>
          </p:cNvSpPr>
          <p:nvPr>
            <p:ph type="subTitle" idx="7"/>
          </p:nvPr>
        </p:nvSpPr>
        <p:spPr>
          <a:xfrm>
            <a:off x="1017325" y="1163370"/>
            <a:ext cx="3550775" cy="527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Automated Artifact Detection</a:t>
            </a:r>
            <a:endParaRPr dirty="0"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8"/>
          </p:nvPr>
        </p:nvSpPr>
        <p:spPr>
          <a:xfrm>
            <a:off x="5182769" y="1258579"/>
            <a:ext cx="3415189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Terrain and Land-feature segmentation</a:t>
            </a:r>
            <a:endParaRPr dirty="0"/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13"/>
          </p:nvPr>
        </p:nvSpPr>
        <p:spPr>
          <a:xfrm>
            <a:off x="865538" y="2815495"/>
            <a:ext cx="3702562" cy="43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 Predictive erosion analysis</a:t>
            </a:r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14"/>
          </p:nvPr>
        </p:nvSpPr>
        <p:spPr>
          <a:xfrm>
            <a:off x="5187948" y="2598091"/>
            <a:ext cx="3705038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Unified visualization dashboard</a:t>
            </a:r>
            <a:endParaRPr dirty="0"/>
          </a:p>
        </p:txBody>
      </p:sp>
      <p:cxnSp>
        <p:nvCxnSpPr>
          <p:cNvPr id="361" name="Google Shape;361;p41"/>
          <p:cNvCxnSpPr>
            <a:cxnSpLocks/>
          </p:cNvCxnSpPr>
          <p:nvPr/>
        </p:nvCxnSpPr>
        <p:spPr>
          <a:xfrm flipH="1">
            <a:off x="722750" y="1258600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1"/>
          <p:cNvCxnSpPr>
            <a:cxnSpLocks/>
          </p:cNvCxnSpPr>
          <p:nvPr/>
        </p:nvCxnSpPr>
        <p:spPr>
          <a:xfrm flipH="1">
            <a:off x="5036160" y="1258591"/>
            <a:ext cx="3900" cy="313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96ED18F7-6D98-781A-6D50-1DECDBF9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>
            <a:extLst>
              <a:ext uri="{FF2B5EF4-FFF2-40B4-BE49-F238E27FC236}">
                <a16:creationId xmlns:a16="http://schemas.microsoft.com/office/drawing/2014/main" id="{FBB601B9-F6C9-7F9C-ACD9-FC2103EBB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Challenges</a:t>
            </a:r>
            <a:endParaRPr dirty="0"/>
          </a:p>
        </p:txBody>
      </p:sp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43893BD5-3AA1-0197-5325-49A063F58CD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74472" y="1400670"/>
            <a:ext cx="2869754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1. Manual archaeological surveys</a:t>
            </a:r>
            <a:endParaRPr dirty="0"/>
          </a:p>
        </p:txBody>
      </p:sp>
      <p:sp>
        <p:nvSpPr>
          <p:cNvPr id="292" name="Google Shape;292;p39">
            <a:extLst>
              <a:ext uri="{FF2B5EF4-FFF2-40B4-BE49-F238E27FC236}">
                <a16:creationId xmlns:a16="http://schemas.microsoft.com/office/drawing/2014/main" id="{7D4211A9-67F8-A1E2-2668-CEAD9DE24AB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74472" y="2371720"/>
            <a:ext cx="2704223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2. Terrain degradation and erosion</a:t>
            </a:r>
            <a:endParaRPr dirty="0"/>
          </a:p>
        </p:txBody>
      </p:sp>
      <p:sp>
        <p:nvSpPr>
          <p:cNvPr id="293" name="Google Shape;293;p39">
            <a:extLst>
              <a:ext uri="{FF2B5EF4-FFF2-40B4-BE49-F238E27FC236}">
                <a16:creationId xmlns:a16="http://schemas.microsoft.com/office/drawing/2014/main" id="{D9B443E1-EA60-1898-E31D-B89700E1AD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25210" y="16371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Traditional surveys are time-consuming, costly, and difficult to scale across large or remote areas.</a:t>
            </a:r>
            <a:endParaRPr dirty="0"/>
          </a:p>
        </p:txBody>
      </p:sp>
      <p:sp>
        <p:nvSpPr>
          <p:cNvPr id="294" name="Google Shape;294;p39">
            <a:extLst>
              <a:ext uri="{FF2B5EF4-FFF2-40B4-BE49-F238E27FC236}">
                <a16:creationId xmlns:a16="http://schemas.microsoft.com/office/drawing/2014/main" id="{162AADD2-DB31-C283-E387-3259692CD11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744226" y="2398355"/>
            <a:ext cx="4140766" cy="523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Erosion and landslides can damage or destroy archaeological sites before they are discovered.</a:t>
            </a:r>
          </a:p>
        </p:txBody>
      </p:sp>
      <p:sp>
        <p:nvSpPr>
          <p:cNvPr id="295" name="Google Shape;295;p39">
            <a:extLst>
              <a:ext uri="{FF2B5EF4-FFF2-40B4-BE49-F238E27FC236}">
                <a16:creationId xmlns:a16="http://schemas.microsoft.com/office/drawing/2014/main" id="{BA36E060-E760-3004-CFB8-3CDDB7866C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925210" y="338028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Existing satellite and geospatial data are underused due to limited AI-based analysis.</a:t>
            </a:r>
            <a:endParaRPr dirty="0"/>
          </a:p>
        </p:txBody>
      </p:sp>
      <p:sp>
        <p:nvSpPr>
          <p:cNvPr id="296" name="Google Shape;296;p39">
            <a:extLst>
              <a:ext uri="{FF2B5EF4-FFF2-40B4-BE49-F238E27FC236}">
                <a16:creationId xmlns:a16="http://schemas.microsoft.com/office/drawing/2014/main" id="{9CEA5C86-8512-FF53-A6A0-D29B3E801F1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74473" y="3342770"/>
            <a:ext cx="214786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3. Limited use of AI</a:t>
            </a:r>
            <a:endParaRPr dirty="0"/>
          </a:p>
        </p:txBody>
      </p:sp>
      <p:cxnSp>
        <p:nvCxnSpPr>
          <p:cNvPr id="308" name="Google Shape;308;p39">
            <a:extLst>
              <a:ext uri="{FF2B5EF4-FFF2-40B4-BE49-F238E27FC236}">
                <a16:creationId xmlns:a16="http://schemas.microsoft.com/office/drawing/2014/main" id="{6A092E51-3EB5-34C3-D942-A3CF2E2DEAA8}"/>
              </a:ext>
            </a:extLst>
          </p:cNvPr>
          <p:cNvCxnSpPr/>
          <p:nvPr/>
        </p:nvCxnSpPr>
        <p:spPr>
          <a:xfrm>
            <a:off x="590921" y="14006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9">
            <a:extLst>
              <a:ext uri="{FF2B5EF4-FFF2-40B4-BE49-F238E27FC236}">
                <a16:creationId xmlns:a16="http://schemas.microsoft.com/office/drawing/2014/main" id="{A360D86D-418B-819F-1C20-BFED73D0DD09}"/>
              </a:ext>
            </a:extLst>
          </p:cNvPr>
          <p:cNvCxnSpPr/>
          <p:nvPr/>
        </p:nvCxnSpPr>
        <p:spPr>
          <a:xfrm>
            <a:off x="590921" y="237172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9">
            <a:extLst>
              <a:ext uri="{FF2B5EF4-FFF2-40B4-BE49-F238E27FC236}">
                <a16:creationId xmlns:a16="http://schemas.microsoft.com/office/drawing/2014/main" id="{242F8173-8D4A-4B9B-18F6-41908C809356}"/>
              </a:ext>
            </a:extLst>
          </p:cNvPr>
          <p:cNvCxnSpPr/>
          <p:nvPr/>
        </p:nvCxnSpPr>
        <p:spPr>
          <a:xfrm>
            <a:off x="590921" y="3342770"/>
            <a:ext cx="0" cy="72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6108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ACCE830D-FE37-7A49-AE11-E62FCDCA986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824038" y="3443588"/>
            <a:ext cx="2806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-based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grpSp>
        <p:nvGrpSpPr>
          <p:cNvPr id="21" name="Google Shape;7856;p64">
            <a:extLst>
              <a:ext uri="{FF2B5EF4-FFF2-40B4-BE49-F238E27FC236}">
                <a16:creationId xmlns:a16="http://schemas.microsoft.com/office/drawing/2014/main" id="{6C942485-39BE-94B0-E28B-0F7C747A15CA}"/>
              </a:ext>
            </a:extLst>
          </p:cNvPr>
          <p:cNvGrpSpPr/>
          <p:nvPr/>
        </p:nvGrpSpPr>
        <p:grpSpPr>
          <a:xfrm>
            <a:off x="259306" y="109182"/>
            <a:ext cx="8786648" cy="4626592"/>
            <a:chOff x="238125" y="1188750"/>
            <a:chExt cx="7283040" cy="3335550"/>
          </a:xfrm>
        </p:grpSpPr>
        <p:sp>
          <p:nvSpPr>
            <p:cNvPr id="22" name="Google Shape;7857;p64">
              <a:extLst>
                <a:ext uri="{FF2B5EF4-FFF2-40B4-BE49-F238E27FC236}">
                  <a16:creationId xmlns:a16="http://schemas.microsoft.com/office/drawing/2014/main" id="{F565AD57-D12D-6690-1C31-B3CEF7980CF5}"/>
                </a:ext>
              </a:extLst>
            </p:cNvPr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858;p64">
              <a:extLst>
                <a:ext uri="{FF2B5EF4-FFF2-40B4-BE49-F238E27FC236}">
                  <a16:creationId xmlns:a16="http://schemas.microsoft.com/office/drawing/2014/main" id="{2481086D-24A6-2F9D-65B2-2DE525621DA5}"/>
                </a:ext>
              </a:extLst>
            </p:cNvPr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859;p64">
              <a:extLst>
                <a:ext uri="{FF2B5EF4-FFF2-40B4-BE49-F238E27FC236}">
                  <a16:creationId xmlns:a16="http://schemas.microsoft.com/office/drawing/2014/main" id="{8B1B2164-90A0-77C9-DFED-1DF87D7CFD98}"/>
                </a:ext>
              </a:extLst>
            </p:cNvPr>
            <p:cNvSpPr/>
            <p:nvPr/>
          </p:nvSpPr>
          <p:spPr>
            <a:xfrm>
              <a:off x="3778155" y="1188750"/>
              <a:ext cx="3743010" cy="1583999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860;p64">
              <a:extLst>
                <a:ext uri="{FF2B5EF4-FFF2-40B4-BE49-F238E27FC236}">
                  <a16:creationId xmlns:a16="http://schemas.microsoft.com/office/drawing/2014/main" id="{F5DFB716-328D-41BF-7A52-420D3DCF884F}"/>
                </a:ext>
              </a:extLst>
            </p:cNvPr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7861;p64">
              <a:extLst>
                <a:ext uri="{FF2B5EF4-FFF2-40B4-BE49-F238E27FC236}">
                  <a16:creationId xmlns:a16="http://schemas.microsoft.com/office/drawing/2014/main" id="{7B5BF4B0-810C-B619-7308-EBE643FCC324}"/>
                </a:ext>
              </a:extLst>
            </p:cNvPr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D4FC8EE-5400-55E3-324E-651B2E96CD4C}"/>
              </a:ext>
            </a:extLst>
          </p:cNvPr>
          <p:cNvSpPr txBox="1"/>
          <p:nvPr/>
        </p:nvSpPr>
        <p:spPr>
          <a:xfrm>
            <a:off x="416583" y="1046485"/>
            <a:ext cx="3332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U-Net trained on satellite and DEM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Outputs pixel-level terrain classification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29313-DB2D-3C2B-5BE3-C3E13FEFB83C}"/>
              </a:ext>
            </a:extLst>
          </p:cNvPr>
          <p:cNvSpPr txBox="1"/>
          <p:nvPr/>
        </p:nvSpPr>
        <p:spPr>
          <a:xfrm>
            <a:off x="5862210" y="708012"/>
            <a:ext cx="3183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YOLOv5 trained on annotated artifact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Detects and classifies archaeological objects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078366-27BA-D331-158F-DE18C7700AA3}"/>
              </a:ext>
            </a:extLst>
          </p:cNvPr>
          <p:cNvSpPr txBox="1"/>
          <p:nvPr/>
        </p:nvSpPr>
        <p:spPr>
          <a:xfrm>
            <a:off x="577222" y="3507572"/>
            <a:ext cx="3352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Regression-based ML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Uses NDVI, slope, DEM, and climate features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4F356B-B198-64EB-69DE-4B7B6B96CBB2}"/>
              </a:ext>
            </a:extLst>
          </p:cNvPr>
          <p:cNvSpPr txBox="1"/>
          <p:nvPr/>
        </p:nvSpPr>
        <p:spPr>
          <a:xfrm>
            <a:off x="3421832" y="1803033"/>
            <a:ext cx="24420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Manrope" panose="020B0604020202020204" charset="0"/>
              </a:rPr>
              <a:t>System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1A116-4E8B-46FF-D36D-62108F7603CB}"/>
              </a:ext>
            </a:extLst>
          </p:cNvPr>
          <p:cNvSpPr txBox="1"/>
          <p:nvPr/>
        </p:nvSpPr>
        <p:spPr>
          <a:xfrm>
            <a:off x="416583" y="466641"/>
            <a:ext cx="320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Semantic Segmentation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250300-A381-F554-9EBE-4D5212E86E1E}"/>
              </a:ext>
            </a:extLst>
          </p:cNvPr>
          <p:cNvSpPr txBox="1"/>
          <p:nvPr/>
        </p:nvSpPr>
        <p:spPr>
          <a:xfrm>
            <a:off x="5038284" y="475609"/>
            <a:ext cx="4831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Object Detection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168F5-5138-F1BA-085A-84A84282D661}"/>
              </a:ext>
            </a:extLst>
          </p:cNvPr>
          <p:cNvSpPr txBox="1"/>
          <p:nvPr/>
        </p:nvSpPr>
        <p:spPr>
          <a:xfrm>
            <a:off x="522975" y="2928867"/>
            <a:ext cx="5102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Erosion Prediction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9D84A-EE04-309B-82ED-C934031B042A}"/>
              </a:ext>
            </a:extLst>
          </p:cNvPr>
          <p:cNvSpPr txBox="1"/>
          <p:nvPr/>
        </p:nvSpPr>
        <p:spPr>
          <a:xfrm>
            <a:off x="5862210" y="2829079"/>
            <a:ext cx="5102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" panose="020B0604020202020204" charset="0"/>
              </a:rPr>
              <a:t>Deployment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4167C9-6BE3-8EE7-4948-EF01A357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0"/>
            <a:ext cx="9144000" cy="5867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051E3-0C78-FD35-2D20-ED4F958CE600}"/>
              </a:ext>
            </a:extLst>
          </p:cNvPr>
          <p:cNvSpPr txBox="1"/>
          <p:nvPr/>
        </p:nvSpPr>
        <p:spPr>
          <a:xfrm>
            <a:off x="271083" y="440877"/>
            <a:ext cx="465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Manrope" panose="020B0604020202020204" charset="0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>
          <a:extLst>
            <a:ext uri="{FF2B5EF4-FFF2-40B4-BE49-F238E27FC236}">
              <a16:creationId xmlns:a16="http://schemas.microsoft.com/office/drawing/2014/main" id="{11A4E2F5-B119-4B65-391E-486099C1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BCA498-22FF-6407-AC55-557B7429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" y="89151"/>
            <a:ext cx="4339665" cy="10926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09D0B2-3995-282E-B9E6-7AC82B28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58" y="2571750"/>
            <a:ext cx="4641742" cy="19867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D5387A-08D0-D3DB-DB49-605F2512B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258" y="238261"/>
            <a:ext cx="4601543" cy="2208509"/>
          </a:xfrm>
          <a:prstGeom prst="rect">
            <a:avLst/>
          </a:prstGeom>
        </p:spPr>
      </p:pic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83975EE1-AA3A-F340-1BC5-01634476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15" y="1266974"/>
            <a:ext cx="2239649" cy="37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">
            <a:extLst>
              <a:ext uri="{FF2B5EF4-FFF2-40B4-BE49-F238E27FC236}">
                <a16:creationId xmlns:a16="http://schemas.microsoft.com/office/drawing/2014/main" id="{E38790E0-FAFB-28DA-557B-B7CF76564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179" y="1266974"/>
            <a:ext cx="2181394" cy="378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42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73BDA-FE71-9A82-7019-43BF10773E0D}"/>
              </a:ext>
            </a:extLst>
          </p:cNvPr>
          <p:cNvSpPr txBox="1"/>
          <p:nvPr/>
        </p:nvSpPr>
        <p:spPr>
          <a:xfrm>
            <a:off x="1270861" y="892247"/>
            <a:ext cx="485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Manrope" panose="020B0604020202020204" charset="0"/>
              </a:rPr>
              <a:t>Presentation Video...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EA0D5-3517-3970-AE59-A6256B94276B}"/>
              </a:ext>
            </a:extLst>
          </p:cNvPr>
          <p:cNvSpPr txBox="1"/>
          <p:nvPr/>
        </p:nvSpPr>
        <p:spPr>
          <a:xfrm>
            <a:off x="1270861" y="2132878"/>
            <a:ext cx="6036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latin typeface="Manrope" panose="020B0604020202020204" charset="0"/>
                <a:hlinkClick r:id="rId2"/>
              </a:rPr>
              <a:t>https://drive.google.com/file/d/1XII0v7jr2nGM-1PSZFaH-kwtJRLxhaWQ/view?usp=drive_link</a:t>
            </a:r>
            <a:endParaRPr lang="en-IN" sz="2000" u="sng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3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8D37-024D-01A7-8138-CD304EFD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D1CF2-68A9-FC4E-E6E8-C48C4AF0D25E}"/>
              </a:ext>
            </a:extLst>
          </p:cNvPr>
          <p:cNvSpPr txBox="1"/>
          <p:nvPr/>
        </p:nvSpPr>
        <p:spPr>
          <a:xfrm>
            <a:off x="2634712" y="1402301"/>
            <a:ext cx="60365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Manrope" panose="020B0604020202020204" charset="0"/>
              </a:rPr>
              <a:t>Thank you</a:t>
            </a:r>
            <a:endParaRPr lang="en-IN" sz="4400" dirty="0">
              <a:solidFill>
                <a:schemeClr val="tx1"/>
              </a:solidFill>
              <a:latin typeface="Manrope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E1BD2-B229-D678-E758-440A6197B3F4}"/>
              </a:ext>
            </a:extLst>
          </p:cNvPr>
          <p:cNvSpPr txBox="1"/>
          <p:nvPr/>
        </p:nvSpPr>
        <p:spPr>
          <a:xfrm>
            <a:off x="3456121" y="3356478"/>
            <a:ext cx="4850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768359761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Simple Light">
      <a:dk1>
        <a:srgbClr val="424651"/>
      </a:dk1>
      <a:lt1>
        <a:srgbClr val="EAEFF4"/>
      </a:lt1>
      <a:dk2>
        <a:srgbClr val="A3ABB7"/>
      </a:dk2>
      <a:lt2>
        <a:srgbClr val="518CDE"/>
      </a:lt2>
      <a:accent1>
        <a:srgbClr val="595BD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6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367</Words>
  <Application>Microsoft Office PowerPoint</Application>
  <PresentationFormat>On-screen Show (16:9)</PresentationFormat>
  <Paragraphs>71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Nunito Light</vt:lpstr>
      <vt:lpstr>Arial</vt:lpstr>
      <vt:lpstr>Roboto</vt:lpstr>
      <vt:lpstr>Roboto Light</vt:lpstr>
      <vt:lpstr>Raleway</vt:lpstr>
      <vt:lpstr>Manrope</vt:lpstr>
      <vt:lpstr>Brand Key Pitch Deck by Slidesgo</vt:lpstr>
      <vt:lpstr>PowerPoint Presentation</vt:lpstr>
      <vt:lpstr>Introduction to AI-Driven Archaeological Site Mapping</vt:lpstr>
      <vt:lpstr>Technology Stack</vt:lpstr>
      <vt:lpstr>Challenges</vt:lpstr>
      <vt:lpstr>Core Features</vt:lpstr>
      <vt:lpstr>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ALSHIFANA</dc:creator>
  <cp:lastModifiedBy>Alshifana B</cp:lastModifiedBy>
  <cp:revision>4</cp:revision>
  <dcterms:modified xsi:type="dcterms:W3CDTF">2026-01-22T11:31:14Z</dcterms:modified>
</cp:coreProperties>
</file>